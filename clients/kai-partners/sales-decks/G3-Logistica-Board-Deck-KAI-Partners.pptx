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tardes. Soy Daniel Cardona, cofundador de KAI Partners.</a:t>
            </a:r>
          </a:p>
          <a:p/>
          <a:p>
            <a:r>
              <a:t>Hace unas semanas tuve una conversación con Raúl sobre la operación de G3. Una conversación de casi una hora donde escuché algo que no escucho a menudo: un CEO que acaba de llegar y que ya tiene claridad absoluta sobre lo que necesita cambiar.</a:t>
            </a:r>
          </a:p>
          <a:p/>
          <a:p>
            <a:r>
              <a:t>Esta presentación no es un pitch genérico de AI. Es una respuesta directa a lo que Raúl nos compartió — con datos, con casos reales, y con una propuesta concreta.</a:t>
            </a:r>
          </a:p>
          <a:p/>
          <a:p>
            <a:r>
              <a:t>Vamos a empezar por lo que está pasando afuera de G3 — porque lo de adentro lo vemos después.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Raúl lo dijo mejor que yo: acabaron de bajar las barreras de entrada de competencias internacionales.</a:t>
            </a:r>
          </a:p>
          <a:p/>
          <a:p>
            <a:r>
              <a:t>Eso significa que empresas de Colombia, México, Brasil — empresas que ya operan con sistemas inteligentes — van a entrar a competir en el mercado venezolano. No en 5 años. Ahora.</a:t>
            </a:r>
          </a:p>
          <a:p/>
          <a:p>
            <a:r>
              <a:t>Hay un dato que importa: el costo de construir un sistema operativo con AI bajó 80% en tres años. Lo que antes era un proyecto de $2 millones para una empresa enterprise, hoy se puede construir por una fracción. Las empresas que aprovechen ese cambio van a dominar. Las que no... van a competir con la mitad de las herramientas contra rivales que tienen el doble.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tabla no es teórica. Es lo que vemos en todas las industrias donde trabajamos.</a:t>
            </a:r>
          </a:p>
          <a:p/>
          <a:p>
            <a:r>
              <a:t>Las empresas que construyeron rieles — infraestructura para que su información fluya — cotizan en minutos, reconcilian automáticamente, y toman decisiones con datos reales. Las que no, dependen de personas clave, de Excel, de WhatsApp.</a:t>
            </a:r>
          </a:p>
          <a:p/>
          <a:p>
            <a:r>
              <a:t>Lo digo sin rodeos: las empresas que no construyan su sistema operativo con AI en los próximos 18-24 meses van a competir con la mitad de las herramientas contra rivales que tienen el doble. Y en un mercado recién abierto como Venezuela, esa ventana es más corta.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no lo inventamos. Son las palabras de Raúl.</a:t>
            </a:r>
          </a:p>
          <a:p/>
          <a:p>
            <a:r>
              <a:t>SAP al 20%. El sistema está instalado, se pagó, pero funciona a una quinta parte. Eso significa que el 80% de la información de G3 vive fuera del sistema — en Excel, en la cabeza de personas clave, en WhatsApp.</a:t>
            </a:r>
          </a:p>
          <a:p/>
          <a:p>
            <a:r>
              <a:t>El proceso de cotización depende de una persona. Cuando esa persona no está, no se cotiza. Eso en la industria se llama concentración de conocimiento crítico. Es el riesgo más alto que una empresa logística puede tener.</a:t>
            </a:r>
          </a:p>
          <a:p/>
          <a:p>
            <a:r>
              <a:t>Y para crecer, la solución actual es 'contratar el doble de la gente.' Eso no es crecimiento — es supervivencia cara.</a:t>
            </a:r>
          </a:p>
          <a:p/>
          <a:p>
            <a:r>
              <a:t>[NOTA: Este slide requiere validación — ajustar tono y detalle para la junta.]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Vamos a ponerle número a esto.</a:t>
            </a:r>
          </a:p>
          <a:p/>
          <a:p>
            <a:r>
              <a:t>Primero: el bus factor. Si la persona que cotiza no está mañana, ¿qué pasa? Clientes como Colgate y Nestlé no esperan.</a:t>
            </a:r>
          </a:p>
          <a:p/>
          <a:p>
            <a:r>
              <a:t>Segundo: velocidad de respuesta. En logística internacional, la cotización rápida gana el contrato.</a:t>
            </a:r>
          </a:p>
          <a:p/>
          <a:p>
            <a:r>
              <a:t>Tercero: headcount. Si la única forma de crecer es contratar el doble de personas, los márgenes se comprimen.</a:t>
            </a:r>
          </a:p>
          <a:p/>
          <a:p>
            <a:r>
              <a:t>En Finkargo encontramos una situación muy similar: 45 minutos por transacción, todo manual. Hoy procesan en 3 minutos. Los ahorros: $15 millones. La inversión: $35 mil.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no es ciencia ficción. Es lo que construimos para empresas como la de ustedes.</a:t>
            </a:r>
          </a:p>
          <a:p/>
          <a:p>
            <a:r>
              <a:t>Imaginen que un cliente de Colgate pide una cotización. Hoy eso toma días y depende de una persona. En 90 días, el sistema toma las tarifas actualizadas, calcula márgenes, aplica condiciones del contrato, y genera la cotización. La persona que antes armaba todo a mano ahora supervisa y aprueba.</a:t>
            </a:r>
          </a:p>
          <a:p/>
          <a:p>
            <a:r>
              <a:t>SAP al 20% se convierte en SAP al 80%. No porque cambien el ERP, sino porque conectamos lo que ya tienen.</a:t>
            </a:r>
          </a:p>
          <a:p/>
          <a:p>
            <a:r>
              <a:t>Daniel dijo algo que nos gusta repetir: 'AI es como el sol — hay energía infinita, pero si no construyes los paneles solares, no sirve de nada.' G3 tiene la energía. Nosotros construimos los paneles.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 es lo que hacemos diferente: no llegamos con un producto genérico. Llegamos con una pregunta: '¿Dónde duele más?'</a:t>
            </a:r>
          </a:p>
          <a:p/>
          <a:p>
            <a:r>
              <a:t>Las primeras dos semanas son arqueología organizacional — mapear cómo fluye la información de verdad en G3.</a:t>
            </a:r>
          </a:p>
          <a:p/>
          <a:p>
            <a:r>
              <a:t>La fase 1 conecta SAP con el resto. La fase 2 activa los flujos: cotización, reconciliación, reportes. La fase 3 optimiza con datos reales y mide el ROI.</a:t>
            </a:r>
          </a:p>
          <a:p/>
          <a:p>
            <a:r>
              <a:t>En 90 días, la operación de G3 funciona diferente. No porque compraron tecnología nueva, sino porque la información que ya tienen empieza a fluir.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caso es particularmente relevante para G3 porque es la misma industria: transporte y logística.</a:t>
            </a:r>
          </a:p>
          <a:p/>
          <a:p>
            <a:r>
              <a:t>Confie cotizaba transporte de forma manual. Cada cotización tomaba una semana y media porque dependía de 2-3 personas que conocían las tarifas, las rutas, y las condiciones de cada cliente.</a:t>
            </a:r>
          </a:p>
          <a:p/>
          <a:p>
            <a:r>
              <a:t>Construimos un sistema que toma las variables — ruta, peso, tipo de carga, condiciones del contrato — y genera la cotización en minutos. Con aprobación digital, integración con el ministerio de transporte, y QR.</a:t>
            </a:r>
          </a:p>
          <a:p/>
          <a:p>
            <a:r>
              <a:t>Reducción de costo: 60%. Y lo más importante: el proceso ya no depende de personas.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Finkargo procesa $650 millones al año en pagos logísticos. Tres rondas de inversión. 47 personas.</a:t>
            </a:r>
          </a:p>
          <a:p/>
          <a:p>
            <a:r>
              <a:t>Desde adentro: 3 tabs de Excel, 12 grupos de WhatsApp, y la mitad de los datos en la cabeza de 4 personas. ¿Les suena familiar?</a:t>
            </a:r>
          </a:p>
          <a:p/>
          <a:p>
            <a:r>
              <a:t>Cada transacción tomaba 45 minutos de verificación manual. Habían probado 2 vendors antes.</a:t>
            </a:r>
          </a:p>
          <a:p/>
          <a:p>
            <a:r>
              <a:t>Nosotros llegamos con una pregunta: '¿Dónde duele más?' Dos semanas de arqueología. 90 días de construcción. Resultado: 110 procesos automatizados, conciliaciones automáticas, $15 millones en ahorros ejecutados.</a:t>
            </a:r>
          </a:p>
          <a:p/>
          <a:p>
            <a:r>
              <a:t>$35 mil de inversión. $15 millones de retorno. 428 veces el ROI.</a:t>
            </a:r>
          </a:p>
          <a:p/>
          <a:p>
            <a:r>
              <a:t>Y lo más importante: tres años después, seguimos ahí.</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G3 ya tiene SAP B1, Excel, WhatsApp. No vamos a reemplazar nada de eso.</a:t>
            </a:r>
          </a:p>
          <a:p/>
          <a:p>
            <a:r>
              <a:t>Lo que construimos es una capa intermedia — la capa K.AI — que conecta todo.</a:t>
            </a:r>
          </a:p>
          <a:p/>
          <a:p>
            <a:r>
              <a:t>SAP pasa del 20% al 80% de uso porque los datos entran automáticamente. Excel deja de ser la base de datos principal. Y WhatsApp sigue siendo el canal — pero las decisiones ahora tienen datos detrás.</a:t>
            </a:r>
          </a:p>
          <a:p/>
          <a:p>
            <a:r>
              <a:t>Los 2-3 flujos prioritarios: cotización automatizada, reconciliación operativa, y dashboard de junta.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les vamos a pedir que aprueben un proyecto de millones. Dos opciones con riesgo controlado.</a:t>
            </a:r>
          </a:p>
          <a:p/>
          <a:p>
            <a:r>
              <a:t>Ruta A: diagnóstico completo. $5,000. Dos a tres semanas. Mapeamos toda la operación, cuantificamos la manualidad, entregamos un Mapa de Energía.</a:t>
            </a:r>
          </a:p>
          <a:p/>
          <a:p>
            <a:r>
              <a:t>Ruta B: un proceso crítico — la cotización. $3,500-$4,000/mes. En 60-90 días tienen ROI medible.</a:t>
            </a:r>
          </a:p>
          <a:p/>
          <a:p>
            <a:r>
              <a:t>La Ruta A es ideal si la junta quiere ver el panorama completo. La Ruta B es ideal si ya hay claridad sobre dónde empezar.</a:t>
            </a:r>
          </a:p>
          <a:p/>
          <a:p>
            <a:r>
              <a:t>Ambas rutas son de bajo riesgo. No estamos pidiendo un compromiso de 18 meses.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Nuestro modelo no es el de consultoría tradicional. No cobramos por horas y nos vamos.</a:t>
            </a:r>
          </a:p>
          <a:p/>
          <a:p>
            <a:r>
              <a:t>Hay un componente fijo que cubre el equipo y la infraestructura. Y hay un componente variable atado a resultados reales — no a PowerPoints entregados, sino a procesos funcionando.</a:t>
            </a:r>
          </a:p>
          <a:p/>
          <a:p>
            <a:r>
              <a:t>En Finkargo la inversión fue $35 mil. El retorno fue $15 millones. Tres años después seguimos.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es la pregunta que toda junta hace: '¿Y la gente?'</a:t>
            </a:r>
          </a:p>
          <a:p/>
          <a:p>
            <a:r>
              <a:t>Raúl lo dijo: 'La junta quiere avanzar, pero que nos lleven de la mano.'</a:t>
            </a:r>
          </a:p>
          <a:p/>
          <a:p>
            <a:r>
              <a:t>Primero: no reemplazamos personas. Las transformamos. La persona que hoy pasa 4 horas armando cotizaciones mañana supervisa un sistema que las genera en minutos.</a:t>
            </a:r>
          </a:p>
          <a:p/>
          <a:p>
            <a:r>
              <a:t>Segundo: todo pasa con humano en el loop. El sistema propone, la persona aprueba.</a:t>
            </a:r>
          </a:p>
          <a:p/>
          <a:p>
            <a:r>
              <a:t>Tercero: no hacemos un workshop de 2 horas. Trabajamos junto al equipo de G3 durante 90 días.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somos una consultora grande con juniors ejecutando. Somos los founders construyendo con ustedes.</a:t>
            </a:r>
          </a:p>
          <a:p/>
          <a:p>
            <a:r>
              <a:t>Daniel Restrepo diseñó los sistemas que hoy procesan $650 millones para Finkargo.</a:t>
            </a:r>
          </a:p>
          <a:p/>
          <a:p>
            <a:r>
              <a:t>Yo — Daniel Cardona — lidero la arqueología organizacional. Las primeras dos semanas las paso entendiendo cómo opera G3 de verdad.</a:t>
            </a:r>
          </a:p>
          <a:p/>
          <a:p>
            <a:r>
              <a:t>Y Thomas Schuck — 25 años en logística, Harvard OPM — asegura que lo que construimos funciona en la operación real.</a:t>
            </a:r>
          </a:p>
          <a:p/>
          <a:p>
            <a:r>
              <a:t>Doce clientes activos. Tres países. $650 millones procesados. Tres años de track record.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les pido que decidan hoy. Les pido tres cosas:</a:t>
            </a:r>
          </a:p>
          <a:p/>
          <a:p>
            <a:r>
              <a:t>Uno: elijan una ruta. Ruta A si quieren diagnóstico completo. Ruta B si quieren empezar por cotización.</a:t>
            </a:r>
          </a:p>
          <a:p/>
          <a:p>
            <a:r>
              <a:t>Dos: aprueben un presupuesto exploratorio. $5,000 para la Ruta A. $3,500-$4,000 mensuales para la Ruta B.</a:t>
            </a:r>
          </a:p>
          <a:p/>
          <a:p>
            <a:r>
              <a:t>Tres: agendemos una sesión la próxima semana para afinar el alcance.</a:t>
            </a:r>
          </a:p>
          <a:p/>
          <a:p>
            <a:r>
              <a:t>Lo que sí les digo: cada trimestre que pasa sin actuar, los costos se acumulan. Y las empresas que sí están construyendo su sistema operativo con AI — esas no están esperando.</a:t>
            </a:r>
          </a:p>
          <a:p/>
          <a:p>
            <a:r>
              <a:t>La energía está en G3. Solo faltan los paneles. Nosotros los construimos con ustedes.</a:t>
            </a:r>
          </a:p>
          <a:p/>
          <a:p>
            <a:r>
              <a:t>Gracias.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4480560" y="1188720"/>
            <a:ext cx="3383280" cy="13716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389120" y="1097280"/>
            <a:ext cx="3383280" cy="137160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937760" y="1371600"/>
            <a:ext cx="2743200" cy="457200"/>
          </a:xfrm>
          <a:prstGeom prst="rect">
            <a:avLst/>
          </a:prstGeom>
          <a:noFill/>
        </p:spPr>
        <p:txBody>
          <a:bodyPr wrap="none">
            <a:spAutoFit/>
          </a:bodyPr>
          <a:lstStyle/>
          <a:p>
            <a:r>
              <a:rPr sz="3200" b="1">
                <a:solidFill>
                  <a:srgbClr val="FF5C23"/>
                </a:solidFill>
                <a:latin typeface="Space Mono"/>
              </a:rPr>
              <a:t>&gt;_</a:t>
            </a:r>
            <a:r>
              <a:rPr sz="3200" b="1">
                <a:solidFill>
                  <a:srgbClr val="0A0A0A"/>
                </a:solidFill>
                <a:latin typeface="Space Mono"/>
              </a:rPr>
              <a:t>KAI PARTNERS</a:t>
            </a:r>
          </a:p>
        </p:txBody>
      </p:sp>
      <p:sp>
        <p:nvSpPr>
          <p:cNvPr id="5" name="TextBox 4"/>
          <p:cNvSpPr txBox="1"/>
          <p:nvPr/>
        </p:nvSpPr>
        <p:spPr>
          <a:xfrm>
            <a:off x="2286000" y="2743200"/>
            <a:ext cx="7589520" cy="548640"/>
          </a:xfrm>
          <a:prstGeom prst="rect">
            <a:avLst/>
          </a:prstGeom>
          <a:noFill/>
        </p:spPr>
        <p:txBody>
          <a:bodyPr wrap="square">
            <a:spAutoFit/>
          </a:bodyPr>
          <a:lstStyle/>
          <a:p>
            <a:pPr algn="ctr">
              <a:defRPr sz="1600" b="0">
                <a:solidFill>
                  <a:srgbClr val="0A0A0A"/>
                </a:solidFill>
                <a:latin typeface="Space Mono"/>
              </a:defRPr>
            </a:pPr>
            <a:r>
              <a:t>AI-OS Built with you. Proven with your data.</a:t>
            </a:r>
          </a:p>
        </p:txBody>
      </p:sp>
      <p:sp>
        <p:nvSpPr>
          <p:cNvPr id="6" name="TextBox 5"/>
          <p:cNvSpPr txBox="1"/>
          <p:nvPr/>
        </p:nvSpPr>
        <p:spPr>
          <a:xfrm>
            <a:off x="2286000" y="3474720"/>
            <a:ext cx="7589520" cy="457200"/>
          </a:xfrm>
          <a:prstGeom prst="rect">
            <a:avLst/>
          </a:prstGeom>
          <a:noFill/>
        </p:spPr>
        <p:txBody>
          <a:bodyPr wrap="square">
            <a:spAutoFit/>
          </a:bodyPr>
          <a:lstStyle/>
          <a:p>
            <a:pPr algn="ctr">
              <a:defRPr sz="2200" b="1">
                <a:solidFill>
                  <a:srgbClr val="0A0A0A"/>
                </a:solidFill>
                <a:latin typeface="Oswald"/>
              </a:defRPr>
            </a:pPr>
            <a:r>
              <a:t>Presentación para la Junta Directiva de G3 Logística</a:t>
            </a:r>
          </a:p>
        </p:txBody>
      </p:sp>
      <p:sp>
        <p:nvSpPr>
          <p:cNvPr id="7" name="TextBox 6"/>
          <p:cNvSpPr txBox="1"/>
          <p:nvPr/>
        </p:nvSpPr>
        <p:spPr>
          <a:xfrm>
            <a:off x="2286000" y="4114800"/>
            <a:ext cx="7589520" cy="365760"/>
          </a:xfrm>
          <a:prstGeom prst="rect">
            <a:avLst/>
          </a:prstGeom>
          <a:noFill/>
        </p:spPr>
        <p:txBody>
          <a:bodyPr wrap="square">
            <a:spAutoFit/>
          </a:bodyPr>
          <a:lstStyle/>
          <a:p>
            <a:pPr algn="ctr">
              <a:defRPr sz="1400" b="0">
                <a:solidFill>
                  <a:srgbClr val="0A0A0A"/>
                </a:solidFill>
                <a:latin typeface="Space Mono"/>
              </a:defRPr>
            </a:pPr>
            <a:r>
              <a:t>Febrero 2026</a:t>
            </a:r>
          </a:p>
        </p:txBody>
      </p:sp>
      <p:sp>
        <p:nvSpPr>
          <p:cNvPr id="8" name="TextBox 7"/>
          <p:cNvSpPr txBox="1"/>
          <p:nvPr/>
        </p:nvSpPr>
        <p:spPr>
          <a:xfrm>
            <a:off x="2286000" y="5303520"/>
            <a:ext cx="7589520" cy="365760"/>
          </a:xfrm>
          <a:prstGeom prst="rect">
            <a:avLst/>
          </a:prstGeom>
          <a:noFill/>
        </p:spPr>
        <p:txBody>
          <a:bodyPr wrap="square">
            <a:spAutoFit/>
          </a:bodyPr>
          <a:lstStyle/>
          <a:p>
            <a:pPr algn="ctr">
              <a:defRPr sz="1200" b="0">
                <a:solidFill>
                  <a:srgbClr val="0A0A0A"/>
                </a:solidFill>
                <a:latin typeface="Space Mono"/>
              </a:defRPr>
            </a:pPr>
            <a:r>
              <a:t>Daniel Cardona  |  Cofundador, KAI Partners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1 — BIG, RELEVANT CHANGE</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LAS BARRERAS CAYERON. LA COMPETENCIA YA VIENE.</a:t>
            </a:r>
          </a:p>
        </p:txBody>
      </p:sp>
      <p:sp>
        <p:nvSpPr>
          <p:cNvPr id="4" name="TextBox 3"/>
          <p:cNvSpPr txBox="1"/>
          <p:nvPr/>
        </p:nvSpPr>
        <p:spPr>
          <a:xfrm>
            <a:off x="731520" y="1645920"/>
            <a:ext cx="6400800" cy="2286000"/>
          </a:xfrm>
          <a:prstGeom prst="rect">
            <a:avLst/>
          </a:prstGeom>
          <a:noFill/>
        </p:spPr>
        <p:txBody>
          <a:bodyPr wrap="square">
            <a:spAutoFit/>
          </a:bodyPr>
          <a:lstStyle/>
          <a:p>
            <a:pPr>
              <a:spcBef>
                <a:spcPts val="800"/>
              </a:spcBef>
              <a:spcAft>
                <a:spcPts val="200"/>
              </a:spcAft>
              <a:defRPr sz="1300">
                <a:solidFill>
                  <a:srgbClr val="0A0A0A"/>
                </a:solidFill>
                <a:latin typeface="Space Mono"/>
              </a:defRPr>
            </a:pPr>
            <a:r>
              <a:t>→ Venezuela abrió barreras de entrada a competidores internacionales</a:t>
            </a:r>
          </a:p>
          <a:p>
            <a:pPr>
              <a:spcBef>
                <a:spcPts val="800"/>
              </a:spcBef>
              <a:spcAft>
                <a:spcPts val="200"/>
              </a:spcAft>
              <a:defRPr sz="1300">
                <a:solidFill>
                  <a:srgbClr val="0A0A0A"/>
                </a:solidFill>
                <a:latin typeface="Space Mono"/>
              </a:defRPr>
            </a:pPr>
            <a:r>
              <a:t>→ Empresas logísticas en Colombia y México ya operan con AI integrado</a:t>
            </a:r>
          </a:p>
          <a:p>
            <a:pPr>
              <a:spcBef>
                <a:spcPts val="800"/>
              </a:spcBef>
              <a:spcAft>
                <a:spcPts val="200"/>
              </a:spcAft>
              <a:defRPr sz="1300">
                <a:solidFill>
                  <a:srgbClr val="0A0A0A"/>
                </a:solidFill>
                <a:latin typeface="Space Mono"/>
              </a:defRPr>
            </a:pPr>
            <a:r>
              <a:t>→ El costo de automatización bajó 80% en 3 años — lo que antes costaba $2M hoy cuesta $35K</a:t>
            </a:r>
          </a:p>
        </p:txBody>
      </p:sp>
      <p:sp>
        <p:nvSpPr>
          <p:cNvPr id="5" name="Rectangle 4"/>
          <p:cNvSpPr/>
          <p:nvPr/>
        </p:nvSpPr>
        <p:spPr>
          <a:xfrm>
            <a:off x="822960" y="4480560"/>
            <a:ext cx="10515600" cy="10972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4389120"/>
            <a:ext cx="10515600" cy="10972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200" i="1">
                <a:solidFill>
                  <a:srgbClr val="0A0A0A"/>
                </a:solidFill>
                <a:latin typeface="Space Mono"/>
              </a:rPr>
              <a:t>"Acaban de bajar las barreras de entrada de competencias internacionales"</a:t>
            </a:r>
          </a:p>
          <a:p>
            <a:pPr>
              <a:spcBef>
                <a:spcPts val="600"/>
              </a:spcBef>
              <a:defRPr sz="1000" b="1">
                <a:solidFill>
                  <a:srgbClr val="0A0A0A"/>
                </a:solidFill>
                <a:latin typeface="Space Mono"/>
              </a:defRPr>
            </a:pPr>
            <a:r>
              <a:t>— Raúl Moreno, CEO — G3 Logística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2 — WINNERS VS. LOSERS</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DOS TIPOS DE EMPRESA EN 2026</a:t>
            </a:r>
          </a:p>
        </p:txBody>
      </p:sp>
      <p:graphicFrame>
        <p:nvGraphicFramePr>
          <p:cNvPr id="4" name="Table 3"/>
          <p:cNvGraphicFramePr>
            <a:graphicFrameLocks noGrp="1"/>
          </p:cNvGraphicFramePr>
          <p:nvPr/>
        </p:nvGraphicFramePr>
        <p:xfrm>
          <a:off x="731520" y="1463040"/>
          <a:ext cx="10515600" cy="2194560"/>
        </p:xfrm>
        <a:graphic>
          <a:graphicData uri="http://schemas.openxmlformats.org/drawingml/2006/table">
            <a:tbl>
              <a:tblPr firstRow="1" bandRow="1">
                <a:tableStyleId>{5C22544A-7EE6-4342-B048-85BDC9FD1C3A}</a:tableStyleId>
              </a:tblPr>
              <a:tblGrid>
                <a:gridCol w="5257800"/>
                <a:gridCol w="5257800"/>
              </a:tblGrid>
              <a:tr h="365760">
                <a:tc>
                  <a:txBody>
                    <a:bodyPr/>
                    <a:lstStyle/>
                    <a:p>
                      <a:pPr>
                        <a:defRPr sz="1200" b="1">
                          <a:solidFill>
                            <a:srgbClr val="0A0A0A"/>
                          </a:solidFill>
                          <a:latin typeface="Space Mono"/>
                        </a:defRPr>
                      </a:pPr>
                      <a:r>
                        <a:t>Empresa con AI-OS</a:t>
                      </a:r>
                    </a:p>
                  </a:txBody>
                  <a:tcPr>
                    <a:solidFill>
                      <a:srgbClr val="FFD826"/>
                    </a:solidFill>
                  </a:tcPr>
                </a:tc>
                <a:tc>
                  <a:txBody>
                    <a:bodyPr/>
                    <a:lstStyle/>
                    <a:p>
                      <a:pPr>
                        <a:defRPr sz="1200" b="1">
                          <a:solidFill>
                            <a:srgbClr val="0A0A0A"/>
                          </a:solidFill>
                          <a:latin typeface="Space Mono"/>
                        </a:defRPr>
                      </a:pPr>
                      <a:r>
                        <a:t>Empresa sin AI-OS</a:t>
                      </a:r>
                    </a:p>
                  </a:txBody>
                  <a:tcPr>
                    <a:solidFill>
                      <a:srgbClr val="FFD826"/>
                    </a:solidFill>
                  </a:tcPr>
                </a:tc>
              </a:tr>
              <a:tr h="365760">
                <a:tc>
                  <a:txBody>
                    <a:bodyPr/>
                    <a:lstStyle/>
                    <a:p>
                      <a:pPr>
                        <a:defRPr sz="1100">
                          <a:solidFill>
                            <a:srgbClr val="0A0A0A"/>
                          </a:solidFill>
                          <a:latin typeface="Space Mono"/>
                        </a:defRPr>
                      </a:pPr>
                      <a:r>
                        <a:t>Cotiza en minutos</a:t>
                      </a:r>
                    </a:p>
                  </a:txBody>
                  <a:tcPr>
                    <a:solidFill>
                      <a:srgbClr val="FFFFFF"/>
                    </a:solidFill>
                  </a:tcPr>
                </a:tc>
                <a:tc>
                  <a:txBody>
                    <a:bodyPr/>
                    <a:lstStyle/>
                    <a:p>
                      <a:pPr>
                        <a:defRPr sz="1100">
                          <a:solidFill>
                            <a:srgbClr val="0A0A0A"/>
                          </a:solidFill>
                          <a:latin typeface="Space Mono"/>
                        </a:defRPr>
                      </a:pPr>
                      <a:r>
                        <a:t>Cotiza en días (depende de 1 persona)</a:t>
                      </a:r>
                    </a:p>
                  </a:txBody>
                  <a:tcPr>
                    <a:solidFill>
                      <a:srgbClr val="FFFFFF"/>
                    </a:solidFill>
                  </a:tcPr>
                </a:tc>
              </a:tr>
              <a:tr h="365760">
                <a:tc>
                  <a:txBody>
                    <a:bodyPr/>
                    <a:lstStyle/>
                    <a:p>
                      <a:pPr>
                        <a:defRPr sz="1100">
                          <a:solidFill>
                            <a:srgbClr val="0A0A0A"/>
                          </a:solidFill>
                          <a:latin typeface="Space Mono"/>
                        </a:defRPr>
                      </a:pPr>
                      <a:r>
                        <a:t>Reconcilia automáticamente</a:t>
                      </a:r>
                    </a:p>
                  </a:txBody>
                  <a:tcPr>
                    <a:solidFill>
                      <a:srgbClr val="F4F4F0"/>
                    </a:solidFill>
                  </a:tcPr>
                </a:tc>
                <a:tc>
                  <a:txBody>
                    <a:bodyPr/>
                    <a:lstStyle/>
                    <a:p>
                      <a:pPr>
                        <a:defRPr sz="1100">
                          <a:solidFill>
                            <a:srgbClr val="0A0A0A"/>
                          </a:solidFill>
                          <a:latin typeface="Space Mono"/>
                        </a:defRPr>
                      </a:pPr>
                      <a:r>
                        <a:t>Reconcilia a mano (3 días, riesgo de error)</a:t>
                      </a:r>
                    </a:p>
                  </a:txBody>
                  <a:tcPr>
                    <a:solidFill>
                      <a:srgbClr val="F4F4F0"/>
                    </a:solidFill>
                  </a:tcPr>
                </a:tc>
              </a:tr>
              <a:tr h="365760">
                <a:tc>
                  <a:txBody>
                    <a:bodyPr/>
                    <a:lstStyle/>
                    <a:p>
                      <a:pPr>
                        <a:defRPr sz="1100">
                          <a:solidFill>
                            <a:srgbClr val="0A0A0A"/>
                          </a:solidFill>
                          <a:latin typeface="Space Mono"/>
                        </a:defRPr>
                      </a:pPr>
                      <a:r>
                        <a:t>Datos en tiempo real para la junta</a:t>
                      </a:r>
                    </a:p>
                  </a:txBody>
                  <a:tcPr>
                    <a:solidFill>
                      <a:srgbClr val="FFFFFF"/>
                    </a:solidFill>
                  </a:tcPr>
                </a:tc>
                <a:tc>
                  <a:txBody>
                    <a:bodyPr/>
                    <a:lstStyle/>
                    <a:p>
                      <a:pPr>
                        <a:defRPr sz="1100">
                          <a:solidFill>
                            <a:srgbClr val="0A0A0A"/>
                          </a:solidFill>
                          <a:latin typeface="Space Mono"/>
                        </a:defRPr>
                      </a:pPr>
                      <a:r>
                        <a:t>Reportes desactualizados, basados en intuición</a:t>
                      </a:r>
                    </a:p>
                  </a:txBody>
                  <a:tcPr>
                    <a:solidFill>
                      <a:srgbClr val="FFFFFF"/>
                    </a:solidFill>
                  </a:tcPr>
                </a:tc>
              </a:tr>
              <a:tr h="365760">
                <a:tc>
                  <a:txBody>
                    <a:bodyPr/>
                    <a:lstStyle/>
                    <a:p>
                      <a:pPr>
                        <a:defRPr sz="1100">
                          <a:solidFill>
                            <a:srgbClr val="0A0A0A"/>
                          </a:solidFill>
                          <a:latin typeface="Space Mono"/>
                        </a:defRPr>
                      </a:pPr>
                      <a:r>
                        <a:t>Escala sin duplicar headcount</a:t>
                      </a:r>
                    </a:p>
                  </a:txBody>
                  <a:tcPr>
                    <a:solidFill>
                      <a:srgbClr val="F4F4F0"/>
                    </a:solidFill>
                  </a:tcPr>
                </a:tc>
                <a:tc>
                  <a:txBody>
                    <a:bodyPr/>
                    <a:lstStyle/>
                    <a:p>
                      <a:pPr>
                        <a:defRPr sz="1100">
                          <a:solidFill>
                            <a:srgbClr val="0A0A0A"/>
                          </a:solidFill>
                          <a:latin typeface="Space Mono"/>
                        </a:defRPr>
                      </a:pPr>
                      <a:r>
                        <a:t>Necesita "el doble de la gente" para crecer</a:t>
                      </a:r>
                    </a:p>
                  </a:txBody>
                  <a:tcPr>
                    <a:solidFill>
                      <a:srgbClr val="F4F4F0"/>
                    </a:solidFill>
                  </a:tcPr>
                </a:tc>
              </a:tr>
              <a:tr h="365760">
                <a:tc>
                  <a:txBody>
                    <a:bodyPr/>
                    <a:lstStyle/>
                    <a:p>
                      <a:pPr>
                        <a:defRPr sz="1100">
                          <a:solidFill>
                            <a:srgbClr val="0A0A0A"/>
                          </a:solidFill>
                          <a:latin typeface="Space Mono"/>
                        </a:defRPr>
                      </a:pPr>
                      <a:r>
                        <a:t>Compite con logísticas internacionales</a:t>
                      </a:r>
                    </a:p>
                  </a:txBody>
                  <a:tcPr>
                    <a:solidFill>
                      <a:srgbClr val="FFFFFF"/>
                    </a:solidFill>
                  </a:tcPr>
                </a:tc>
                <a:tc>
                  <a:txBody>
                    <a:bodyPr/>
                    <a:lstStyle/>
                    <a:p>
                      <a:pPr>
                        <a:defRPr sz="1100">
                          <a:solidFill>
                            <a:srgbClr val="0A0A0A"/>
                          </a:solidFill>
                          <a:latin typeface="Space Mono"/>
                        </a:defRPr>
                      </a:pPr>
                      <a:r>
                        <a:t>Vulnerable ante competidores con tecnología</a:t>
                      </a:r>
                    </a:p>
                  </a:txBody>
                  <a:tcPr>
                    <a:solidFill>
                      <a:srgbClr val="FFFFFF"/>
                    </a:solidFill>
                  </a:tcPr>
                </a:tc>
              </a:tr>
            </a:tbl>
          </a:graphicData>
        </a:graphic>
      </p:graphicFrame>
      <p:sp>
        <p:nvSpPr>
          <p:cNvPr id="5" name="Rectangle 4"/>
          <p:cNvSpPr/>
          <p:nvPr/>
        </p:nvSpPr>
        <p:spPr>
          <a:xfrm>
            <a:off x="822960" y="4937760"/>
            <a:ext cx="10515600" cy="9144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4846320"/>
            <a:ext cx="10515600" cy="91440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200" i="1">
                <a:solidFill>
                  <a:srgbClr val="0A0A0A"/>
                </a:solidFill>
                <a:latin typeface="Space Mono"/>
              </a:rPr>
              <a:t>"Se las va a comer en dos, tres años cualquier otra empresa que sí lo haga"</a:t>
            </a:r>
          </a:p>
          <a:p>
            <a:pPr>
              <a:spcBef>
                <a:spcPts val="600"/>
              </a:spcBef>
              <a:defRPr sz="1000" b="1">
                <a:solidFill>
                  <a:srgbClr val="0A0A0A"/>
                </a:solidFill>
                <a:latin typeface="Space Mono"/>
              </a:defRPr>
            </a:pPr>
            <a:r>
              <a:t>— Daniel Cardona — KAI Partners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4 — OBSTACLES</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ESTO ES LO QUE ESCUCHAMOS DE SU OPERACIÓN</a:t>
            </a:r>
          </a:p>
        </p:txBody>
      </p:sp>
      <p:sp>
        <p:nvSpPr>
          <p:cNvPr id="4" name="Rectangle 3"/>
          <p:cNvSpPr/>
          <p:nvPr/>
        </p:nvSpPr>
        <p:spPr>
          <a:xfrm>
            <a:off x="822960" y="1554480"/>
            <a:ext cx="3291840" cy="16459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3291840" cy="16459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200" b="1">
                <a:solidFill>
                  <a:srgbClr val="0A0A0A"/>
                </a:solidFill>
                <a:latin typeface="Space Mono"/>
              </a:rPr>
              <a:t>📊 SAP AL 20%</a:t>
            </a:r>
          </a:p>
          <a:p>
            <a:pPr>
              <a:spcBef>
                <a:spcPts val="400"/>
              </a:spcBef>
              <a:defRPr sz="1000">
                <a:solidFill>
                  <a:srgbClr val="0A0A0A"/>
                </a:solidFill>
                <a:latin typeface="Space Mono"/>
              </a:defRPr>
            </a:pPr>
            <a:r>
              <a:t>El ERP está instalado pero funciona a una quinta parte de su capacidad</a:t>
            </a:r>
          </a:p>
        </p:txBody>
      </p:sp>
      <p:sp>
        <p:nvSpPr>
          <p:cNvPr id="6" name="Rectangle 5"/>
          <p:cNvSpPr/>
          <p:nvPr/>
        </p:nvSpPr>
        <p:spPr>
          <a:xfrm>
            <a:off x="4389120" y="1554480"/>
            <a:ext cx="3291840" cy="16459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297680" y="1463040"/>
            <a:ext cx="3291840" cy="16459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200" b="1">
                <a:solidFill>
                  <a:srgbClr val="0A0A0A"/>
                </a:solidFill>
                <a:latin typeface="Space Mono"/>
              </a:rPr>
              <a:t>👤 CONCENTRACIÓN CRÍTICA</a:t>
            </a:r>
          </a:p>
          <a:p>
            <a:pPr>
              <a:spcBef>
                <a:spcPts val="400"/>
              </a:spcBef>
              <a:defRPr sz="1000">
                <a:solidFill>
                  <a:srgbClr val="0A0A0A"/>
                </a:solidFill>
                <a:latin typeface="Space Mono"/>
              </a:defRPr>
            </a:pPr>
            <a:r>
              <a:t>El proceso de cotización depende de una sola persona</a:t>
            </a:r>
          </a:p>
        </p:txBody>
      </p:sp>
      <p:sp>
        <p:nvSpPr>
          <p:cNvPr id="8" name="Rectangle 7"/>
          <p:cNvSpPr/>
          <p:nvPr/>
        </p:nvSpPr>
        <p:spPr>
          <a:xfrm>
            <a:off x="7955280" y="1554480"/>
            <a:ext cx="3291840" cy="16459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863840" y="1463040"/>
            <a:ext cx="3291840" cy="16459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200" b="1">
                <a:solidFill>
                  <a:srgbClr val="0A0A0A"/>
                </a:solidFill>
                <a:latin typeface="Space Mono"/>
              </a:rPr>
              <a:t>📋 "TRAJE A LA MEDIDA"</a:t>
            </a:r>
          </a:p>
          <a:p>
            <a:pPr>
              <a:spcBef>
                <a:spcPts val="400"/>
              </a:spcBef>
              <a:defRPr sz="1000">
                <a:solidFill>
                  <a:srgbClr val="0A0A0A"/>
                </a:solidFill>
                <a:latin typeface="Space Mono"/>
              </a:defRPr>
            </a:pPr>
            <a:r>
              <a:t>Cada cotización se arma a mano porque los procesos no están estandarizados</a:t>
            </a:r>
          </a:p>
        </p:txBody>
      </p:sp>
      <p:sp>
        <p:nvSpPr>
          <p:cNvPr id="10" name="Rectangle 9"/>
          <p:cNvSpPr/>
          <p:nvPr/>
        </p:nvSpPr>
        <p:spPr>
          <a:xfrm>
            <a:off x="822960" y="3657600"/>
            <a:ext cx="3291840" cy="16459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3566160"/>
            <a:ext cx="3291840" cy="16459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200" b="1">
                <a:solidFill>
                  <a:srgbClr val="0A0A0A"/>
                </a:solidFill>
                <a:latin typeface="Space Mono"/>
              </a:rPr>
              <a:t>👥 "EL DOBLE DE LA GENTE"</a:t>
            </a:r>
          </a:p>
          <a:p>
            <a:pPr>
              <a:spcBef>
                <a:spcPts val="400"/>
              </a:spcBef>
              <a:defRPr sz="1000">
                <a:solidFill>
                  <a:srgbClr val="0A0A0A"/>
                </a:solidFill>
                <a:latin typeface="Space Mono"/>
              </a:defRPr>
            </a:pPr>
            <a:r>
              <a:t>Para crecer, la solución actual es contratar más personas</a:t>
            </a:r>
          </a:p>
        </p:txBody>
      </p:sp>
      <p:sp>
        <p:nvSpPr>
          <p:cNvPr id="12" name="Rectangle 11"/>
          <p:cNvSpPr/>
          <p:nvPr/>
        </p:nvSpPr>
        <p:spPr>
          <a:xfrm>
            <a:off x="4389120" y="3657600"/>
            <a:ext cx="3291840" cy="16459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297680" y="3566160"/>
            <a:ext cx="3291840" cy="16459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rIns="137160" tIns="91440"/>
          <a:lstStyle/>
          <a:p>
            <a:pPr algn="ctr"/>
            <a:r>
              <a:rPr sz="1200" b="1">
                <a:solidFill>
                  <a:srgbClr val="0A0A0A"/>
                </a:solidFill>
                <a:latin typeface="Space Mono"/>
              </a:rPr>
              <a:t>😤 "ES UN ASCO"</a:t>
            </a:r>
          </a:p>
          <a:p>
            <a:pPr>
              <a:spcBef>
                <a:spcPts val="400"/>
              </a:spcBef>
              <a:defRPr sz="1000">
                <a:solidFill>
                  <a:srgbClr val="0A0A0A"/>
                </a:solidFill>
                <a:latin typeface="Space Mono"/>
              </a:defRPr>
            </a:pPr>
            <a:r>
              <a:t>La operación funciona, pero con un costo humano que el equipo ya no aguanta</a:t>
            </a:r>
          </a:p>
        </p:txBody>
      </p:sp>
      <p:sp>
        <p:nvSpPr>
          <p:cNvPr id="14" name="TextBox 13"/>
          <p:cNvSpPr txBox="1"/>
          <p:nvPr/>
        </p:nvSpPr>
        <p:spPr>
          <a:xfrm>
            <a:off x="731520" y="6035040"/>
            <a:ext cx="10515600" cy="365760"/>
          </a:xfrm>
          <a:prstGeom prst="rect">
            <a:avLst/>
          </a:prstGeom>
          <a:noFill/>
        </p:spPr>
        <p:txBody>
          <a:bodyPr wrap="square">
            <a:spAutoFit/>
          </a:bodyPr>
          <a:lstStyle/>
          <a:p>
            <a:pPr algn="l">
              <a:defRPr sz="900" b="0">
                <a:solidFill>
                  <a:srgbClr val="0A0A0A"/>
                </a:solidFill>
                <a:latin typeface="Space Mono"/>
              </a:defRPr>
            </a:pPr>
            <a:r>
              <a:t>Fuente: Conversación con Raúl Moreno, CEO, 11 de febrero de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4 — OBSTACLES (CUANTIFICACIÓN)</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CUÁNTO CUESTA OPERAR ASÍ</a:t>
            </a:r>
          </a:p>
        </p:txBody>
      </p:sp>
      <p:sp>
        <p:nvSpPr>
          <p:cNvPr id="4" name="Rectangle 3"/>
          <p:cNvSpPr/>
          <p:nvPr/>
        </p:nvSpPr>
        <p:spPr>
          <a:xfrm>
            <a:off x="731520" y="1463040"/>
            <a:ext cx="3291840" cy="411480"/>
          </a:xfrm>
          <a:prstGeom prst="rect">
            <a:avLst/>
          </a:prstGeom>
          <a:solidFill>
            <a:srgbClr val="FF5C23"/>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Oswald"/>
              </a:defRPr>
            </a:pPr>
            <a:r>
              <a:t>RIESGO #1: BUS FACTOR</a:t>
            </a:r>
          </a:p>
        </p:txBody>
      </p:sp>
      <p:sp>
        <p:nvSpPr>
          <p:cNvPr id="5" name="Rectangle 4"/>
          <p:cNvSpPr/>
          <p:nvPr/>
        </p:nvSpPr>
        <p:spPr>
          <a:xfrm>
            <a:off x="731520" y="1874519"/>
            <a:ext cx="3291840" cy="201168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1100">
                <a:solidFill>
                  <a:srgbClr val="0A0A0A"/>
                </a:solidFill>
                <a:latin typeface="Space Mono"/>
              </a:defRPr>
            </a:pPr>
            <a:r>
              <a:t>La cotización depende de 1 persona.</a:t>
            </a:r>
            <a:br/>
            <a:r>
              <a:t>Si se va, se enferma, o se atrasa → la operación se detiene.</a:t>
            </a:r>
            <a:br/>
            <a:r>
              <a:t>Costo estimado: $[X]/año</a:t>
            </a:r>
          </a:p>
        </p:txBody>
      </p:sp>
      <p:sp>
        <p:nvSpPr>
          <p:cNvPr id="6" name="Rectangle 5"/>
          <p:cNvSpPr/>
          <p:nvPr/>
        </p:nvSpPr>
        <p:spPr>
          <a:xfrm>
            <a:off x="4297680" y="1463040"/>
            <a:ext cx="3291840" cy="411480"/>
          </a:xfrm>
          <a:prstGeom prst="rect">
            <a:avLst/>
          </a:prstGeom>
          <a:solidFill>
            <a:srgbClr val="FF5C23"/>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Oswald"/>
              </a:defRPr>
            </a:pPr>
            <a:r>
              <a:t>RIESGO #2: VELOCIDAD DE RESPUESTA</a:t>
            </a:r>
          </a:p>
        </p:txBody>
      </p:sp>
      <p:sp>
        <p:nvSpPr>
          <p:cNvPr id="7" name="Rectangle 6"/>
          <p:cNvSpPr/>
          <p:nvPr/>
        </p:nvSpPr>
        <p:spPr>
          <a:xfrm>
            <a:off x="4297680" y="1874519"/>
            <a:ext cx="3291840" cy="201168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1100">
                <a:solidFill>
                  <a:srgbClr val="0A0A0A"/>
                </a:solidFill>
                <a:latin typeface="Space Mono"/>
              </a:defRPr>
            </a:pPr>
            <a:r>
              <a:t>Cada cotización se arma a mano: días vs. minutos.</a:t>
            </a:r>
            <a:br/>
            <a:r>
              <a:t>Colgate y Nestlé esperan respuestas en horas, no semanas.</a:t>
            </a:r>
            <a:br/>
            <a:r>
              <a:t>Costo de oportunidad: $[X] en deals perdidos</a:t>
            </a:r>
          </a:p>
        </p:txBody>
      </p:sp>
      <p:sp>
        <p:nvSpPr>
          <p:cNvPr id="8" name="Rectangle 7"/>
          <p:cNvSpPr/>
          <p:nvPr/>
        </p:nvSpPr>
        <p:spPr>
          <a:xfrm>
            <a:off x="7863840" y="1463040"/>
            <a:ext cx="3291840" cy="411480"/>
          </a:xfrm>
          <a:prstGeom prst="rect">
            <a:avLst/>
          </a:prstGeom>
          <a:solidFill>
            <a:srgbClr val="FF5C23"/>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Oswald"/>
              </a:defRPr>
            </a:pPr>
            <a:r>
              <a:t>RIESGO #3: HEADCOUNT OCULTO</a:t>
            </a:r>
          </a:p>
        </p:txBody>
      </p:sp>
      <p:sp>
        <p:nvSpPr>
          <p:cNvPr id="9" name="Rectangle 8"/>
          <p:cNvSpPr/>
          <p:nvPr/>
        </p:nvSpPr>
        <p:spPr>
          <a:xfrm>
            <a:off x="7863840" y="1874519"/>
            <a:ext cx="3291840" cy="201168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defRPr sz="1100">
                <a:solidFill>
                  <a:srgbClr val="0A0A0A"/>
                </a:solidFill>
                <a:latin typeface="Space Mono"/>
              </a:defRPr>
            </a:pPr>
            <a:r>
              <a:t>"El doble de la gente" = duplicar nómina.</a:t>
            </a:r>
            <a:br/>
            <a:r>
              <a:t>En vez de 30 personas con sistemas inteligentes,</a:t>
            </a:r>
            <a:br/>
            <a:r>
              <a:t>se necesitan 60 con Excel.</a:t>
            </a:r>
            <a:br/>
            <a:r>
              <a:t>Costo adicional: $[X]/año</a:t>
            </a:r>
          </a:p>
        </p:txBody>
      </p:sp>
      <p:sp>
        <p:nvSpPr>
          <p:cNvPr id="10" name="Rectangle 9"/>
          <p:cNvSpPr/>
          <p:nvPr/>
        </p:nvSpPr>
        <p:spPr>
          <a:xfrm>
            <a:off x="822960" y="4663440"/>
            <a:ext cx="10515600" cy="100584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20" y="4572000"/>
            <a:ext cx="10515600" cy="10058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200" i="1">
                <a:solidFill>
                  <a:srgbClr val="0A0A0A"/>
                </a:solidFill>
                <a:latin typeface="Space Mono"/>
              </a:rPr>
              <a:t>"En Finkargo: 45 min de proceso manual por transacción costaba $9.3M/año. Después de KAI Partners: 3 minutos por transacción."</a:t>
            </a:r>
          </a:p>
          <a:p>
            <a:pPr>
              <a:spcBef>
                <a:spcPts val="600"/>
              </a:spcBef>
              <a:defRPr sz="1000" b="1">
                <a:solidFill>
                  <a:srgbClr val="0A0A0A"/>
                </a:solidFill>
                <a:latin typeface="Space Mono"/>
              </a:defRPr>
            </a:pPr>
            <a:r>
              <a:t>— Caso documentado — Finkargo</a:t>
            </a:r>
          </a:p>
        </p:txBody>
      </p:sp>
      <p:sp>
        <p:nvSpPr>
          <p:cNvPr id="12" name="Rectangle 11"/>
          <p:cNvSpPr/>
          <p:nvPr/>
        </p:nvSpPr>
        <p:spPr>
          <a:xfrm>
            <a:off x="3291840" y="5852160"/>
            <a:ext cx="5760720" cy="5029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5760720"/>
            <a:ext cx="5760720" cy="502920"/>
          </a:xfrm>
          <a:prstGeom prst="rect">
            <a:avLst/>
          </a:prstGeom>
          <a:solidFill>
            <a:srgbClr val="0A0A0A"/>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FFD826"/>
                </a:solidFill>
                <a:latin typeface="Oswald"/>
              </a:defRPr>
            </a:pPr>
            <a:r>
              <a:t>COSTO TOTAL ESTIMADO DE LA MANUALIDAD: $[X]/AÑO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3 — PROMISED LAND</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G3 CON ENERGÍA: CÓMO SE VE EN 90 DÍAS</a:t>
            </a:r>
          </a:p>
        </p:txBody>
      </p:sp>
      <p:sp>
        <p:nvSpPr>
          <p:cNvPr id="4" name="TextBox 3"/>
          <p:cNvSpPr txBox="1"/>
          <p:nvPr/>
        </p:nvSpPr>
        <p:spPr>
          <a:xfrm>
            <a:off x="731520" y="1463040"/>
            <a:ext cx="10515600" cy="3840480"/>
          </a:xfrm>
          <a:prstGeom prst="rect">
            <a:avLst/>
          </a:prstGeom>
          <a:noFill/>
        </p:spPr>
        <p:txBody>
          <a:bodyPr wrap="square">
            <a:spAutoFit/>
          </a:bodyPr>
          <a:lstStyle/>
          <a:p>
            <a:pPr>
              <a:spcBef>
                <a:spcPts val="800"/>
              </a:spcBef>
              <a:spcAft>
                <a:spcPts val="200"/>
              </a:spcAft>
              <a:defRPr sz="1300">
                <a:solidFill>
                  <a:srgbClr val="0A0A0A"/>
                </a:solidFill>
                <a:latin typeface="Space Mono"/>
              </a:defRPr>
            </a:pPr>
            <a:r>
              <a:t>⚡ COTIZACIÓN EN MINUTOS — El sistema genera cotizaciones con tarifas actualizadas, márgenes calculados, y condiciones personalizadas. Sin depender de una persona.</a:t>
            </a:r>
          </a:p>
          <a:p>
            <a:pPr>
              <a:spcBef>
                <a:spcPts val="800"/>
              </a:spcBef>
              <a:spcAft>
                <a:spcPts val="200"/>
              </a:spcAft>
              <a:defRPr sz="1300">
                <a:solidFill>
                  <a:srgbClr val="0A0A0A"/>
                </a:solidFill>
                <a:latin typeface="Space Mono"/>
              </a:defRPr>
            </a:pPr>
            <a:r>
              <a:t>⚡ RECONCILIACIÓN AUTOMÁTICA — SAP, Excel, y los datos operativos se conectan. Discrepancias detectadas en tiempo real, no en 3 días.</a:t>
            </a:r>
          </a:p>
          <a:p>
            <a:pPr>
              <a:spcBef>
                <a:spcPts val="800"/>
              </a:spcBef>
              <a:spcAft>
                <a:spcPts val="200"/>
              </a:spcAft>
              <a:defRPr sz="1300">
                <a:solidFill>
                  <a:srgbClr val="0A0A0A"/>
                </a:solidFill>
                <a:latin typeface="Space Mono"/>
              </a:defRPr>
            </a:pPr>
            <a:r>
              <a:t>⚡ VISIBILIDAD PARA LA JUNTA — Dashboard en vivo: margen por cliente, ocupación de almacén, rutas, KPIs operativos.</a:t>
            </a:r>
          </a:p>
          <a:p>
            <a:pPr>
              <a:spcBef>
                <a:spcPts val="800"/>
              </a:spcBef>
              <a:spcAft>
                <a:spcPts val="200"/>
              </a:spcAft>
              <a:defRPr sz="1300">
                <a:solidFill>
                  <a:srgbClr val="0A0A0A"/>
                </a:solidFill>
                <a:latin typeface="Space Mono"/>
              </a:defRPr>
            </a:pPr>
            <a:r>
              <a:t>⚡ ESCALAR SIN DUPLICAR NÓMINA — El crecimiento requiere mejores rieles para que la información fluya.</a:t>
            </a:r>
          </a:p>
          <a:p>
            <a:pPr>
              <a:spcBef>
                <a:spcPts val="800"/>
              </a:spcBef>
              <a:spcAft>
                <a:spcPts val="200"/>
              </a:spcAft>
              <a:defRPr sz="1300">
                <a:solidFill>
                  <a:srgbClr val="0A0A0A"/>
                </a:solidFill>
                <a:latin typeface="Space Mono"/>
              </a:defRPr>
            </a:pPr>
            <a:r>
              <a:t>⚡ LA JUNTA DUERME TRANQUILA — La operación no depende de personas clave. El conocimiento está en el sistema.</a:t>
            </a:r>
          </a:p>
        </p:txBody>
      </p:sp>
      <p:sp>
        <p:nvSpPr>
          <p:cNvPr id="5" name="TextBox 4"/>
          <p:cNvSpPr txBox="1"/>
          <p:nvPr/>
        </p:nvSpPr>
        <p:spPr>
          <a:xfrm>
            <a:off x="2286000" y="5669280"/>
            <a:ext cx="7589520" cy="457200"/>
          </a:xfrm>
          <a:prstGeom prst="rect">
            <a:avLst/>
          </a:prstGeom>
          <a:noFill/>
        </p:spPr>
        <p:txBody>
          <a:bodyPr wrap="square">
            <a:spAutoFit/>
          </a:bodyPr>
          <a:lstStyle/>
          <a:p>
            <a:pPr algn="ctr">
              <a:defRPr sz="1400" b="1">
                <a:solidFill>
                  <a:srgbClr val="FF5C23"/>
                </a:solidFill>
                <a:latin typeface="Space Mono"/>
              </a:defRPr>
            </a:pPr>
            <a:r>
              <a:t>"La energía ya está en G3. Solo faltan los paneles."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4 — NEW WAY (METHODOLOGY)</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TRES FASES. 90 DÍAS. CON TU EQUIPO, CON TUS DATOS.</a:t>
            </a:r>
          </a:p>
        </p:txBody>
      </p:sp>
      <p:sp>
        <p:nvSpPr>
          <p:cNvPr id="4" name="Rectangle 3"/>
          <p:cNvSpPr/>
          <p:nvPr/>
        </p:nvSpPr>
        <p:spPr>
          <a:xfrm>
            <a:off x="822960" y="1554480"/>
            <a:ext cx="3291840" cy="4114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3291840" cy="4114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0A0A0A"/>
                </a:solidFill>
                <a:latin typeface="Oswald"/>
              </a:defRPr>
            </a:pPr>
            <a:r>
              <a:t>FASE 1: AUMENTAR (Mes 1)</a:t>
            </a:r>
          </a:p>
        </p:txBody>
      </p:sp>
      <p:sp>
        <p:nvSpPr>
          <p:cNvPr id="6" name="Rectangle 5"/>
          <p:cNvSpPr/>
          <p:nvPr/>
        </p:nvSpPr>
        <p:spPr>
          <a:xfrm>
            <a:off x="731520" y="1874520"/>
            <a:ext cx="3291840" cy="18288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Bef>
                <a:spcPts val="400"/>
              </a:spcBef>
              <a:defRPr sz="1000">
                <a:solidFill>
                  <a:srgbClr val="0A0A0A"/>
                </a:solidFill>
                <a:latin typeface="Space Mono"/>
              </a:defRPr>
            </a:pPr>
            <a:r>
              <a:t>→ Arqueología organizacional</a:t>
            </a:r>
          </a:p>
          <a:p>
            <a:pPr>
              <a:spcBef>
                <a:spcPts val="400"/>
              </a:spcBef>
              <a:defRPr sz="1000">
                <a:solidFill>
                  <a:srgbClr val="0A0A0A"/>
                </a:solidFill>
                <a:latin typeface="Space Mono"/>
              </a:defRPr>
            </a:pPr>
            <a:r>
              <a:t>→ Mapear flujos REALES de información</a:t>
            </a:r>
          </a:p>
          <a:p>
            <a:pPr>
              <a:spcBef>
                <a:spcPts val="400"/>
              </a:spcBef>
              <a:defRPr sz="1000">
                <a:solidFill>
                  <a:srgbClr val="0A0A0A"/>
                </a:solidFill>
                <a:latin typeface="Space Mono"/>
              </a:defRPr>
            </a:pPr>
            <a:r>
              <a:t>→ Conectar SAP con la operación</a:t>
            </a:r>
          </a:p>
          <a:p>
            <a:pPr>
              <a:spcBef>
                <a:spcPts val="400"/>
              </a:spcBef>
              <a:defRPr sz="1000">
                <a:solidFill>
                  <a:srgbClr val="0A0A0A"/>
                </a:solidFill>
                <a:latin typeface="Space Mono"/>
              </a:defRPr>
            </a:pPr>
            <a:r>
              <a:t>→ Primeras automatizaciones en producción</a:t>
            </a:r>
          </a:p>
        </p:txBody>
      </p:sp>
      <p:sp>
        <p:nvSpPr>
          <p:cNvPr id="7" name="Rectangle 6"/>
          <p:cNvSpPr/>
          <p:nvPr/>
        </p:nvSpPr>
        <p:spPr>
          <a:xfrm>
            <a:off x="4526280" y="1554480"/>
            <a:ext cx="3291840" cy="4114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434840" y="1463040"/>
            <a:ext cx="3291840" cy="4114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0A0A0A"/>
                </a:solidFill>
                <a:latin typeface="Oswald"/>
              </a:defRPr>
            </a:pPr>
            <a:r>
              <a:t>FASE 2: AUTOMATIZAR (Mes 2)</a:t>
            </a:r>
          </a:p>
        </p:txBody>
      </p:sp>
      <p:sp>
        <p:nvSpPr>
          <p:cNvPr id="9" name="Rectangle 8"/>
          <p:cNvSpPr/>
          <p:nvPr/>
        </p:nvSpPr>
        <p:spPr>
          <a:xfrm>
            <a:off x="4434840" y="1874520"/>
            <a:ext cx="3291840" cy="18288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Bef>
                <a:spcPts val="400"/>
              </a:spcBef>
              <a:defRPr sz="1000">
                <a:solidFill>
                  <a:srgbClr val="0A0A0A"/>
                </a:solidFill>
                <a:latin typeface="Space Mono"/>
              </a:defRPr>
            </a:pPr>
            <a:r>
              <a:t>→ Activar flujos de datos</a:t>
            </a:r>
          </a:p>
          <a:p>
            <a:pPr>
              <a:spcBef>
                <a:spcPts val="400"/>
              </a:spcBef>
              <a:defRPr sz="1000">
                <a:solidFill>
                  <a:srgbClr val="0A0A0A"/>
                </a:solidFill>
                <a:latin typeface="Space Mono"/>
              </a:defRPr>
            </a:pPr>
            <a:r>
              <a:t>→ Cotización automatizada</a:t>
            </a:r>
          </a:p>
          <a:p>
            <a:pPr>
              <a:spcBef>
                <a:spcPts val="400"/>
              </a:spcBef>
              <a:defRPr sz="1000">
                <a:solidFill>
                  <a:srgbClr val="0A0A0A"/>
                </a:solidFill>
                <a:latin typeface="Space Mono"/>
              </a:defRPr>
            </a:pPr>
            <a:r>
              <a:t>→ Reconciliación automática</a:t>
            </a:r>
          </a:p>
          <a:p>
            <a:pPr>
              <a:spcBef>
                <a:spcPts val="400"/>
              </a:spcBef>
              <a:defRPr sz="1000">
                <a:solidFill>
                  <a:srgbClr val="0A0A0A"/>
                </a:solidFill>
                <a:latin typeface="Space Mono"/>
              </a:defRPr>
            </a:pPr>
            <a:r>
              <a:t>→ Equipo opera con el AI-OS</a:t>
            </a:r>
          </a:p>
        </p:txBody>
      </p:sp>
      <p:sp>
        <p:nvSpPr>
          <p:cNvPr id="10" name="Rectangle 9"/>
          <p:cNvSpPr/>
          <p:nvPr/>
        </p:nvSpPr>
        <p:spPr>
          <a:xfrm>
            <a:off x="8229600" y="1554480"/>
            <a:ext cx="3291840" cy="4114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0" y="1463040"/>
            <a:ext cx="3291840" cy="4114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600" b="1">
                <a:solidFill>
                  <a:srgbClr val="0A0A0A"/>
                </a:solidFill>
                <a:latin typeface="Oswald"/>
              </a:defRPr>
            </a:pPr>
            <a:r>
              <a:t>FASE 3: AGENTIZAR (Mes 3)</a:t>
            </a:r>
          </a:p>
        </p:txBody>
      </p:sp>
      <p:sp>
        <p:nvSpPr>
          <p:cNvPr id="12" name="Rectangle 11"/>
          <p:cNvSpPr/>
          <p:nvPr/>
        </p:nvSpPr>
        <p:spPr>
          <a:xfrm>
            <a:off x="8138160" y="1874520"/>
            <a:ext cx="3291840" cy="18288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09728" tIns="73152"/>
          <a:lstStyle/>
          <a:p>
            <a:pPr algn="ctr">
              <a:spcBef>
                <a:spcPts val="400"/>
              </a:spcBef>
              <a:defRPr sz="1000">
                <a:solidFill>
                  <a:srgbClr val="0A0A0A"/>
                </a:solidFill>
                <a:latin typeface="Space Mono"/>
              </a:defRPr>
            </a:pPr>
            <a:r>
              <a:t>→ Optimización con datos reales</a:t>
            </a:r>
          </a:p>
          <a:p>
            <a:pPr>
              <a:spcBef>
                <a:spcPts val="400"/>
              </a:spcBef>
              <a:defRPr sz="1000">
                <a:solidFill>
                  <a:srgbClr val="0A0A0A"/>
                </a:solidFill>
                <a:latin typeface="Space Mono"/>
              </a:defRPr>
            </a:pPr>
            <a:r>
              <a:t>→ Agentes de AI que monitorean y alertan</a:t>
            </a:r>
          </a:p>
          <a:p>
            <a:pPr>
              <a:spcBef>
                <a:spcPts val="400"/>
              </a:spcBef>
              <a:defRPr sz="1000">
                <a:solidFill>
                  <a:srgbClr val="0A0A0A"/>
                </a:solidFill>
                <a:latin typeface="Space Mono"/>
              </a:defRPr>
            </a:pPr>
            <a:r>
              <a:t>→ Equipo supervisa, no ejecuta</a:t>
            </a:r>
          </a:p>
          <a:p>
            <a:pPr>
              <a:spcBef>
                <a:spcPts val="400"/>
              </a:spcBef>
              <a:defRPr sz="1000">
                <a:solidFill>
                  <a:srgbClr val="0A0A0A"/>
                </a:solidFill>
                <a:latin typeface="Space Mono"/>
              </a:defRPr>
            </a:pPr>
            <a:r>
              <a:t>→ ROI medido, no estimado</a:t>
            </a:r>
          </a:p>
        </p:txBody>
      </p:sp>
      <p:sp>
        <p:nvSpPr>
          <p:cNvPr id="13" name="TextBox 12"/>
          <p:cNvSpPr txBox="1"/>
          <p:nvPr/>
        </p:nvSpPr>
        <p:spPr>
          <a:xfrm>
            <a:off x="731520" y="5760720"/>
            <a:ext cx="10515600" cy="457200"/>
          </a:xfrm>
          <a:prstGeom prst="rect">
            <a:avLst/>
          </a:prstGeom>
          <a:noFill/>
        </p:spPr>
        <p:txBody>
          <a:bodyPr wrap="square">
            <a:spAutoFit/>
          </a:bodyPr>
          <a:lstStyle/>
          <a:p>
            <a:pPr algn="ctr">
              <a:defRPr sz="1300" b="1">
                <a:solidFill>
                  <a:srgbClr val="FF5C23"/>
                </a:solidFill>
                <a:latin typeface="Space Mono"/>
              </a:defRPr>
            </a:pPr>
            <a:r>
              <a:t>No reemplazamos tus sistemas. Construimos rieles encima de lo que ya tienes.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5 — EVIDENCE</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CONFIE: DE 1.5 SEMANAS A MENOS DE 15 MINUTOS</a:t>
            </a:r>
          </a:p>
        </p:txBody>
      </p:sp>
      <p:sp>
        <p:nvSpPr>
          <p:cNvPr id="4" name="TextBox 3"/>
          <p:cNvSpPr txBox="1"/>
          <p:nvPr/>
        </p:nvSpPr>
        <p:spPr>
          <a:xfrm>
            <a:off x="731520" y="1280160"/>
            <a:ext cx="10515600" cy="365760"/>
          </a:xfrm>
          <a:prstGeom prst="rect">
            <a:avLst/>
          </a:prstGeom>
          <a:noFill/>
        </p:spPr>
        <p:txBody>
          <a:bodyPr wrap="square">
            <a:spAutoFit/>
          </a:bodyPr>
          <a:lstStyle/>
          <a:p>
            <a:pPr algn="l">
              <a:defRPr sz="1300" b="0">
                <a:solidFill>
                  <a:srgbClr val="0A0A0A"/>
                </a:solidFill>
                <a:latin typeface="Space Mono"/>
              </a:defRPr>
            </a:pPr>
            <a:r>
              <a:t>Empresa de transporte en Colombia. Cotización manual. Dependía de expertos humanos.</a:t>
            </a:r>
          </a:p>
        </p:txBody>
      </p:sp>
      <p:graphicFrame>
        <p:nvGraphicFramePr>
          <p:cNvPr id="5" name="Table 4"/>
          <p:cNvGraphicFramePr>
            <a:graphicFrameLocks noGrp="1"/>
          </p:cNvGraphicFramePr>
          <p:nvPr/>
        </p:nvGraphicFramePr>
        <p:xfrm>
          <a:off x="731520" y="2011680"/>
          <a:ext cx="10515600" cy="1828800"/>
        </p:xfrm>
        <a:graphic>
          <a:graphicData uri="http://schemas.openxmlformats.org/drawingml/2006/table">
            <a:tbl>
              <a:tblPr firstRow="1" bandRow="1">
                <a:tableStyleId>{5C22544A-7EE6-4342-B048-85BDC9FD1C3A}</a:tableStyleId>
              </a:tblPr>
              <a:tblGrid>
                <a:gridCol w="3474720"/>
                <a:gridCol w="3520440"/>
                <a:gridCol w="3520440"/>
              </a:tblGrid>
              <a:tr h="365760">
                <a:tc>
                  <a:txBody>
                    <a:bodyPr/>
                    <a:lstStyle/>
                    <a:p>
                      <a:pPr>
                        <a:defRPr sz="1200" b="1">
                          <a:solidFill>
                            <a:srgbClr val="0A0A0A"/>
                          </a:solidFill>
                          <a:latin typeface="Space Mono"/>
                        </a:defRPr>
                      </a:pPr>
                      <a:r>
                        <a:t>Métrica</a:t>
                      </a:r>
                    </a:p>
                  </a:txBody>
                  <a:tcPr>
                    <a:solidFill>
                      <a:srgbClr val="FFD826"/>
                    </a:solidFill>
                  </a:tcPr>
                </a:tc>
                <a:tc>
                  <a:txBody>
                    <a:bodyPr/>
                    <a:lstStyle/>
                    <a:p>
                      <a:pPr>
                        <a:defRPr sz="1200" b="1">
                          <a:solidFill>
                            <a:srgbClr val="0A0A0A"/>
                          </a:solidFill>
                          <a:latin typeface="Space Mono"/>
                        </a:defRPr>
                      </a:pPr>
                      <a:r>
                        <a:t>Antes</a:t>
                      </a:r>
                    </a:p>
                  </a:txBody>
                  <a:tcPr>
                    <a:solidFill>
                      <a:srgbClr val="FFD826"/>
                    </a:solidFill>
                  </a:tcPr>
                </a:tc>
                <a:tc>
                  <a:txBody>
                    <a:bodyPr/>
                    <a:lstStyle/>
                    <a:p>
                      <a:pPr>
                        <a:defRPr sz="1200" b="1">
                          <a:solidFill>
                            <a:srgbClr val="0A0A0A"/>
                          </a:solidFill>
                          <a:latin typeface="Space Mono"/>
                        </a:defRPr>
                      </a:pPr>
                      <a:r>
                        <a:t>Después de KAI Partners</a:t>
                      </a:r>
                    </a:p>
                  </a:txBody>
                  <a:tcPr>
                    <a:solidFill>
                      <a:srgbClr val="FFD826"/>
                    </a:solidFill>
                  </a:tcPr>
                </a:tc>
              </a:tr>
              <a:tr h="365760">
                <a:tc>
                  <a:txBody>
                    <a:bodyPr/>
                    <a:lstStyle/>
                    <a:p>
                      <a:pPr>
                        <a:defRPr sz="1100">
                          <a:solidFill>
                            <a:srgbClr val="0A0A0A"/>
                          </a:solidFill>
                          <a:latin typeface="Space Mono"/>
                        </a:defRPr>
                      </a:pPr>
                      <a:r>
                        <a:t>Tiempo de cotización</a:t>
                      </a:r>
                    </a:p>
                  </a:txBody>
                  <a:tcPr>
                    <a:solidFill>
                      <a:srgbClr val="FFFFFF"/>
                    </a:solidFill>
                  </a:tcPr>
                </a:tc>
                <a:tc>
                  <a:txBody>
                    <a:bodyPr/>
                    <a:lstStyle/>
                    <a:p>
                      <a:pPr>
                        <a:defRPr sz="1100">
                          <a:solidFill>
                            <a:srgbClr val="0A0A0A"/>
                          </a:solidFill>
                          <a:latin typeface="Space Mono"/>
                        </a:defRPr>
                      </a:pPr>
                      <a:r>
                        <a:t>1.5 semanas</a:t>
                      </a:r>
                    </a:p>
                  </a:txBody>
                  <a:tcPr>
                    <a:solidFill>
                      <a:srgbClr val="FFFFFF"/>
                    </a:solidFill>
                  </a:tcPr>
                </a:tc>
                <a:tc>
                  <a:txBody>
                    <a:bodyPr/>
                    <a:lstStyle/>
                    <a:p>
                      <a:pPr>
                        <a:defRPr sz="1100">
                          <a:solidFill>
                            <a:srgbClr val="0A0A0A"/>
                          </a:solidFill>
                          <a:latin typeface="Space Mono"/>
                        </a:defRPr>
                      </a:pPr>
                      <a:r>
                        <a:t>&lt; 15 minutos</a:t>
                      </a:r>
                    </a:p>
                  </a:txBody>
                  <a:tcPr>
                    <a:solidFill>
                      <a:srgbClr val="FFFFFF"/>
                    </a:solidFill>
                  </a:tcPr>
                </a:tc>
              </a:tr>
              <a:tr h="365760">
                <a:tc>
                  <a:txBody>
                    <a:bodyPr/>
                    <a:lstStyle/>
                    <a:p>
                      <a:pPr>
                        <a:defRPr sz="1100">
                          <a:solidFill>
                            <a:srgbClr val="0A0A0A"/>
                          </a:solidFill>
                          <a:latin typeface="Space Mono"/>
                        </a:defRPr>
                      </a:pPr>
                      <a:r>
                        <a:t>Dependencia de personas</a:t>
                      </a:r>
                    </a:p>
                  </a:txBody>
                  <a:tcPr>
                    <a:solidFill>
                      <a:srgbClr val="F4F4F0"/>
                    </a:solidFill>
                  </a:tcPr>
                </a:tc>
                <a:tc>
                  <a:txBody>
                    <a:bodyPr/>
                    <a:lstStyle/>
                    <a:p>
                      <a:pPr>
                        <a:defRPr sz="1100">
                          <a:solidFill>
                            <a:srgbClr val="0A0A0A"/>
                          </a:solidFill>
                          <a:latin typeface="Space Mono"/>
                        </a:defRPr>
                      </a:pPr>
                      <a:r>
                        <a:t>2-3 expertos</a:t>
                      </a:r>
                    </a:p>
                  </a:txBody>
                  <a:tcPr>
                    <a:solidFill>
                      <a:srgbClr val="F4F4F0"/>
                    </a:solidFill>
                  </a:tcPr>
                </a:tc>
                <a:tc>
                  <a:txBody>
                    <a:bodyPr/>
                    <a:lstStyle/>
                    <a:p>
                      <a:pPr>
                        <a:defRPr sz="1100">
                          <a:solidFill>
                            <a:srgbClr val="0A0A0A"/>
                          </a:solidFill>
                          <a:latin typeface="Space Mono"/>
                        </a:defRPr>
                      </a:pPr>
                      <a:r>
                        <a:t>Sistema + supervisión</a:t>
                      </a:r>
                    </a:p>
                  </a:txBody>
                  <a:tcPr>
                    <a:solidFill>
                      <a:srgbClr val="F4F4F0"/>
                    </a:solidFill>
                  </a:tcPr>
                </a:tc>
              </a:tr>
              <a:tr h="365760">
                <a:tc>
                  <a:txBody>
                    <a:bodyPr/>
                    <a:lstStyle/>
                    <a:p>
                      <a:pPr>
                        <a:defRPr sz="1100">
                          <a:solidFill>
                            <a:srgbClr val="0A0A0A"/>
                          </a:solidFill>
                          <a:latin typeface="Space Mono"/>
                        </a:defRPr>
                      </a:pPr>
                      <a:r>
                        <a:t>Reducción de costos</a:t>
                      </a:r>
                    </a:p>
                  </a:txBody>
                  <a:tcPr>
                    <a:solidFill>
                      <a:srgbClr val="FFFFFF"/>
                    </a:solidFill>
                  </a:tcPr>
                </a:tc>
                <a:tc>
                  <a:txBody>
                    <a:bodyPr/>
                    <a:lstStyle/>
                    <a:p>
                      <a:pPr>
                        <a:defRPr sz="1100">
                          <a:solidFill>
                            <a:srgbClr val="0A0A0A"/>
                          </a:solidFill>
                          <a:latin typeface="Space Mono"/>
                        </a:defRPr>
                      </a:pPr>
                      <a:r>
                        <a:t>—</a:t>
                      </a:r>
                    </a:p>
                  </a:txBody>
                  <a:tcPr>
                    <a:solidFill>
                      <a:srgbClr val="FFFFFF"/>
                    </a:solidFill>
                  </a:tcPr>
                </a:tc>
                <a:tc>
                  <a:txBody>
                    <a:bodyPr/>
                    <a:lstStyle/>
                    <a:p>
                      <a:pPr>
                        <a:defRPr sz="1100">
                          <a:solidFill>
                            <a:srgbClr val="0A0A0A"/>
                          </a:solidFill>
                          <a:latin typeface="Space Mono"/>
                        </a:defRPr>
                      </a:pPr>
                      <a:r>
                        <a:t>60%</a:t>
                      </a:r>
                    </a:p>
                  </a:txBody>
                  <a:tcPr>
                    <a:solidFill>
                      <a:srgbClr val="FFFFFF"/>
                    </a:solidFill>
                  </a:tcPr>
                </a:tc>
              </a:tr>
              <a:tr h="365760">
                <a:tc>
                  <a:txBody>
                    <a:bodyPr/>
                    <a:lstStyle/>
                    <a:p>
                      <a:pPr>
                        <a:defRPr sz="1100">
                          <a:solidFill>
                            <a:srgbClr val="0A0A0A"/>
                          </a:solidFill>
                          <a:latin typeface="Space Mono"/>
                        </a:defRPr>
                      </a:pPr>
                      <a:r>
                        <a:t>Integración con entes</a:t>
                      </a:r>
                    </a:p>
                  </a:txBody>
                  <a:tcPr>
                    <a:solidFill>
                      <a:srgbClr val="F4F4F0"/>
                    </a:solidFill>
                  </a:tcPr>
                </a:tc>
                <a:tc>
                  <a:txBody>
                    <a:bodyPr/>
                    <a:lstStyle/>
                    <a:p>
                      <a:pPr>
                        <a:defRPr sz="1100">
                          <a:solidFill>
                            <a:srgbClr val="0A0A0A"/>
                          </a:solidFill>
                          <a:latin typeface="Space Mono"/>
                        </a:defRPr>
                      </a:pPr>
                      <a:r>
                        <a:t>Manual</a:t>
                      </a:r>
                    </a:p>
                  </a:txBody>
                  <a:tcPr>
                    <a:solidFill>
                      <a:srgbClr val="F4F4F0"/>
                    </a:solidFill>
                  </a:tcPr>
                </a:tc>
                <a:tc>
                  <a:txBody>
                    <a:bodyPr/>
                    <a:lstStyle/>
                    <a:p>
                      <a:pPr>
                        <a:defRPr sz="1100">
                          <a:solidFill>
                            <a:srgbClr val="0A0A0A"/>
                          </a:solidFill>
                          <a:latin typeface="Space Mono"/>
                        </a:defRPr>
                      </a:pPr>
                      <a:r>
                        <a:t>Automática (ministerio, QR)</a:t>
                      </a:r>
                    </a:p>
                  </a:txBody>
                  <a:tcPr>
                    <a:solidFill>
                      <a:srgbClr val="F4F4F0"/>
                    </a:solidFill>
                  </a:tcPr>
                </a:tc>
              </a:tr>
            </a:tbl>
          </a:graphicData>
        </a:graphic>
      </p:graphicFrame>
      <p:sp>
        <p:nvSpPr>
          <p:cNvPr id="6" name="Rectangle 5"/>
          <p:cNvSpPr/>
          <p:nvPr/>
        </p:nvSpPr>
        <p:spPr>
          <a:xfrm>
            <a:off x="822960" y="4846320"/>
            <a:ext cx="10515600" cy="9144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4754880"/>
            <a:ext cx="10515600" cy="91440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200" i="1">
                <a:solidFill>
                  <a:srgbClr val="0A0A0A"/>
                </a:solidFill>
                <a:latin typeface="Space Mono"/>
              </a:rPr>
              <a:t>"Le mostramos el sistema en vivo a Raúl durante nuestra primera conversación. La reacción fue inmediata."</a:t>
            </a:r>
          </a:p>
          <a:p>
            <a:pPr>
              <a:spcBef>
                <a:spcPts val="600"/>
              </a:spcBef>
              <a:defRPr sz="1000" b="1">
                <a:solidFill>
                  <a:srgbClr val="0A0A0A"/>
                </a:solidFill>
                <a:latin typeface="Space Mono"/>
              </a:defRPr>
            </a:pPr>
            <a:r>
              <a:t>— Daniel Cardona — KAI Partners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5 — EVIDENCE (PROOF PRINCIPAL)</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800" b="1">
                <a:solidFill>
                  <a:srgbClr val="FFD826"/>
                </a:solidFill>
                <a:latin typeface="Oswald"/>
              </a:defRPr>
            </a:pPr>
            <a:r>
              <a:t>FINKARGO: $650M PROCESADOS. 428x ROI.</a:t>
            </a:r>
          </a:p>
        </p:txBody>
      </p:sp>
      <p:sp>
        <p:nvSpPr>
          <p:cNvPr id="4" name="TextBox 3"/>
          <p:cNvSpPr txBox="1"/>
          <p:nvPr/>
        </p:nvSpPr>
        <p:spPr>
          <a:xfrm>
            <a:off x="731520" y="1280160"/>
            <a:ext cx="10515600" cy="365760"/>
          </a:xfrm>
          <a:prstGeom prst="rect">
            <a:avLst/>
          </a:prstGeom>
          <a:noFill/>
        </p:spPr>
        <p:txBody>
          <a:bodyPr wrap="square">
            <a:spAutoFit/>
          </a:bodyPr>
          <a:lstStyle/>
          <a:p>
            <a:pPr algn="l">
              <a:defRPr sz="1300" b="0">
                <a:solidFill>
                  <a:srgbClr val="F4F4F0"/>
                </a:solidFill>
                <a:latin typeface="Space Mono"/>
              </a:defRPr>
            </a:pPr>
            <a:r>
              <a:t>Fintech / Pagos Logísticos — Bogotá, Colombia</a:t>
            </a:r>
          </a:p>
        </p:txBody>
      </p:sp>
      <p:graphicFrame>
        <p:nvGraphicFramePr>
          <p:cNvPr id="5" name="Table 4"/>
          <p:cNvGraphicFramePr>
            <a:graphicFrameLocks noGrp="1"/>
          </p:cNvGraphicFramePr>
          <p:nvPr/>
        </p:nvGraphicFramePr>
        <p:xfrm>
          <a:off x="731520" y="1920240"/>
          <a:ext cx="10515600" cy="2560320"/>
        </p:xfrm>
        <a:graphic>
          <a:graphicData uri="http://schemas.openxmlformats.org/drawingml/2006/table">
            <a:tbl>
              <a:tblPr firstRow="1" bandRow="1">
                <a:tableStyleId>{5C22544A-7EE6-4342-B048-85BDC9FD1C3A}</a:tableStyleId>
              </a:tblPr>
              <a:tblGrid>
                <a:gridCol w="3474720"/>
                <a:gridCol w="3520440"/>
                <a:gridCol w="3520440"/>
              </a:tblGrid>
              <a:tr h="365760">
                <a:tc>
                  <a:txBody>
                    <a:bodyPr/>
                    <a:lstStyle/>
                    <a:p>
                      <a:pPr>
                        <a:defRPr sz="1200" b="1">
                          <a:solidFill>
                            <a:srgbClr val="0A0A0A"/>
                          </a:solidFill>
                          <a:latin typeface="Space Mono"/>
                        </a:defRPr>
                      </a:pPr>
                      <a:r>
                        <a:t>Métrica</a:t>
                      </a:r>
                    </a:p>
                  </a:txBody>
                  <a:tcPr>
                    <a:solidFill>
                      <a:srgbClr val="FFD826"/>
                    </a:solidFill>
                  </a:tcPr>
                </a:tc>
                <a:tc>
                  <a:txBody>
                    <a:bodyPr/>
                    <a:lstStyle/>
                    <a:p>
                      <a:pPr>
                        <a:defRPr sz="1200" b="1">
                          <a:solidFill>
                            <a:srgbClr val="0A0A0A"/>
                          </a:solidFill>
                          <a:latin typeface="Space Mono"/>
                        </a:defRPr>
                      </a:pPr>
                      <a:r>
                        <a:t>Antes</a:t>
                      </a:r>
                    </a:p>
                  </a:txBody>
                  <a:tcPr>
                    <a:solidFill>
                      <a:srgbClr val="FFD826"/>
                    </a:solidFill>
                  </a:tcPr>
                </a:tc>
                <a:tc>
                  <a:txBody>
                    <a:bodyPr/>
                    <a:lstStyle/>
                    <a:p>
                      <a:pPr>
                        <a:defRPr sz="1200" b="1">
                          <a:solidFill>
                            <a:srgbClr val="0A0A0A"/>
                          </a:solidFill>
                          <a:latin typeface="Space Mono"/>
                        </a:defRPr>
                      </a:pPr>
                      <a:r>
                        <a:t>Después de KAI Partners</a:t>
                      </a:r>
                    </a:p>
                  </a:txBody>
                  <a:tcPr>
                    <a:solidFill>
                      <a:srgbClr val="FFD826"/>
                    </a:solidFill>
                  </a:tcPr>
                </a:tc>
              </a:tr>
              <a:tr h="365760">
                <a:tc>
                  <a:txBody>
                    <a:bodyPr/>
                    <a:lstStyle/>
                    <a:p>
                      <a:pPr>
                        <a:defRPr sz="1100">
                          <a:solidFill>
                            <a:srgbClr val="0A0A0A"/>
                          </a:solidFill>
                          <a:latin typeface="Space Mono"/>
                        </a:defRPr>
                      </a:pPr>
                      <a:r>
                        <a:t>Tiempo por transacción</a:t>
                      </a:r>
                    </a:p>
                  </a:txBody>
                  <a:tcPr>
                    <a:solidFill>
                      <a:srgbClr val="FFFFFF"/>
                    </a:solidFill>
                  </a:tcPr>
                </a:tc>
                <a:tc>
                  <a:txBody>
                    <a:bodyPr/>
                    <a:lstStyle/>
                    <a:p>
                      <a:pPr>
                        <a:defRPr sz="1100">
                          <a:solidFill>
                            <a:srgbClr val="0A0A0A"/>
                          </a:solidFill>
                          <a:latin typeface="Space Mono"/>
                        </a:defRPr>
                      </a:pPr>
                      <a:r>
                        <a:t>45 minutos</a:t>
                      </a:r>
                    </a:p>
                  </a:txBody>
                  <a:tcPr>
                    <a:solidFill>
                      <a:srgbClr val="FFFFFF"/>
                    </a:solidFill>
                  </a:tcPr>
                </a:tc>
                <a:tc>
                  <a:txBody>
                    <a:bodyPr/>
                    <a:lstStyle/>
                    <a:p>
                      <a:pPr>
                        <a:defRPr sz="1100">
                          <a:solidFill>
                            <a:srgbClr val="0A0A0A"/>
                          </a:solidFill>
                          <a:latin typeface="Space Mono"/>
                        </a:defRPr>
                      </a:pPr>
                      <a:r>
                        <a:t>3 minutos</a:t>
                      </a:r>
                    </a:p>
                  </a:txBody>
                  <a:tcPr>
                    <a:solidFill>
                      <a:srgbClr val="FFFFFF"/>
                    </a:solidFill>
                  </a:tcPr>
                </a:tc>
              </a:tr>
              <a:tr h="365760">
                <a:tc>
                  <a:txBody>
                    <a:bodyPr/>
                    <a:lstStyle/>
                    <a:p>
                      <a:pPr>
                        <a:defRPr sz="1100">
                          <a:solidFill>
                            <a:srgbClr val="0A0A0A"/>
                          </a:solidFill>
                          <a:latin typeface="Space Mono"/>
                        </a:defRPr>
                      </a:pPr>
                      <a:r>
                        <a:t>Reconciliación</a:t>
                      </a:r>
                    </a:p>
                  </a:txBody>
                  <a:tcPr>
                    <a:solidFill>
                      <a:srgbClr val="F4F4F0"/>
                    </a:solidFill>
                  </a:tcPr>
                </a:tc>
                <a:tc>
                  <a:txBody>
                    <a:bodyPr/>
                    <a:lstStyle/>
                    <a:p>
                      <a:pPr>
                        <a:defRPr sz="1100">
                          <a:solidFill>
                            <a:srgbClr val="0A0A0A"/>
                          </a:solidFill>
                          <a:latin typeface="Space Mono"/>
                        </a:defRPr>
                      </a:pPr>
                      <a:r>
                        <a:t>3 días (manual)</a:t>
                      </a:r>
                    </a:p>
                  </a:txBody>
                  <a:tcPr>
                    <a:solidFill>
                      <a:srgbClr val="F4F4F0"/>
                    </a:solidFill>
                  </a:tcPr>
                </a:tc>
                <a:tc>
                  <a:txBody>
                    <a:bodyPr/>
                    <a:lstStyle/>
                    <a:p>
                      <a:pPr>
                        <a:defRPr sz="1100">
                          <a:solidFill>
                            <a:srgbClr val="0A0A0A"/>
                          </a:solidFill>
                          <a:latin typeface="Space Mono"/>
                        </a:defRPr>
                      </a:pPr>
                      <a:r>
                        <a:t>Automática</a:t>
                      </a:r>
                    </a:p>
                  </a:txBody>
                  <a:tcPr>
                    <a:solidFill>
                      <a:srgbClr val="F4F4F0"/>
                    </a:solidFill>
                  </a:tcPr>
                </a:tc>
              </a:tr>
              <a:tr h="365760">
                <a:tc>
                  <a:txBody>
                    <a:bodyPr/>
                    <a:lstStyle/>
                    <a:p>
                      <a:pPr>
                        <a:defRPr sz="1100">
                          <a:solidFill>
                            <a:srgbClr val="0A0A0A"/>
                          </a:solidFill>
                          <a:latin typeface="Space Mono"/>
                        </a:defRPr>
                      </a:pPr>
                      <a:r>
                        <a:t>Procesos automatizados</a:t>
                      </a:r>
                    </a:p>
                  </a:txBody>
                  <a:tcPr>
                    <a:solidFill>
                      <a:srgbClr val="FFFFFF"/>
                    </a:solidFill>
                  </a:tcPr>
                </a:tc>
                <a:tc>
                  <a:txBody>
                    <a:bodyPr/>
                    <a:lstStyle/>
                    <a:p>
                      <a:pPr>
                        <a:defRPr sz="1100">
                          <a:solidFill>
                            <a:srgbClr val="0A0A0A"/>
                          </a:solidFill>
                          <a:latin typeface="Space Mono"/>
                        </a:defRPr>
                      </a:pPr>
                      <a:r>
                        <a:t>0</a:t>
                      </a:r>
                    </a:p>
                  </a:txBody>
                  <a:tcPr>
                    <a:solidFill>
                      <a:srgbClr val="FFFFFF"/>
                    </a:solidFill>
                  </a:tcPr>
                </a:tc>
                <a:tc>
                  <a:txBody>
                    <a:bodyPr/>
                    <a:lstStyle/>
                    <a:p>
                      <a:pPr>
                        <a:defRPr sz="1100">
                          <a:solidFill>
                            <a:srgbClr val="0A0A0A"/>
                          </a:solidFill>
                          <a:latin typeface="Space Mono"/>
                        </a:defRPr>
                      </a:pPr>
                      <a:r>
                        <a:t>110+</a:t>
                      </a:r>
                    </a:p>
                  </a:txBody>
                  <a:tcPr>
                    <a:solidFill>
                      <a:srgbClr val="FFFFFF"/>
                    </a:solidFill>
                  </a:tcPr>
                </a:tc>
              </a:tr>
              <a:tr h="365760">
                <a:tc>
                  <a:txBody>
                    <a:bodyPr/>
                    <a:lstStyle/>
                    <a:p>
                      <a:pPr>
                        <a:defRPr sz="1100">
                          <a:solidFill>
                            <a:srgbClr val="0A0A0A"/>
                          </a:solidFill>
                          <a:latin typeface="Space Mono"/>
                        </a:defRPr>
                      </a:pPr>
                      <a:r>
                        <a:t>Ahorros ejecutados</a:t>
                      </a:r>
                    </a:p>
                  </a:txBody>
                  <a:tcPr>
                    <a:solidFill>
                      <a:srgbClr val="F4F4F0"/>
                    </a:solidFill>
                  </a:tcPr>
                </a:tc>
                <a:tc>
                  <a:txBody>
                    <a:bodyPr/>
                    <a:lstStyle/>
                    <a:p>
                      <a:pPr>
                        <a:defRPr sz="1100">
                          <a:solidFill>
                            <a:srgbClr val="0A0A0A"/>
                          </a:solidFill>
                          <a:latin typeface="Space Mono"/>
                        </a:defRPr>
                      </a:pPr>
                      <a:r>
                        <a:t>$0</a:t>
                      </a:r>
                    </a:p>
                  </a:txBody>
                  <a:tcPr>
                    <a:solidFill>
                      <a:srgbClr val="F4F4F0"/>
                    </a:solidFill>
                  </a:tcPr>
                </a:tc>
                <a:tc>
                  <a:txBody>
                    <a:bodyPr/>
                    <a:lstStyle/>
                    <a:p>
                      <a:pPr>
                        <a:defRPr sz="1100">
                          <a:solidFill>
                            <a:srgbClr val="0A0A0A"/>
                          </a:solidFill>
                          <a:latin typeface="Space Mono"/>
                        </a:defRPr>
                      </a:pPr>
                      <a:r>
                        <a:t>$15M</a:t>
                      </a:r>
                    </a:p>
                  </a:txBody>
                  <a:tcPr>
                    <a:solidFill>
                      <a:srgbClr val="F4F4F0"/>
                    </a:solidFill>
                  </a:tcPr>
                </a:tc>
              </a:tr>
              <a:tr h="365760">
                <a:tc>
                  <a:txBody>
                    <a:bodyPr/>
                    <a:lstStyle/>
                    <a:p>
                      <a:pPr>
                        <a:defRPr sz="1100">
                          <a:solidFill>
                            <a:srgbClr val="0A0A0A"/>
                          </a:solidFill>
                          <a:latin typeface="Space Mono"/>
                        </a:defRPr>
                      </a:pPr>
                      <a:r>
                        <a:t>Inversión</a:t>
                      </a:r>
                    </a:p>
                  </a:txBody>
                  <a:tcPr>
                    <a:solidFill>
                      <a:srgbClr val="FFFFFF"/>
                    </a:solidFill>
                  </a:tcPr>
                </a:tc>
                <a:tc>
                  <a:txBody>
                    <a:bodyPr/>
                    <a:lstStyle/>
                    <a:p>
                      <a:pPr>
                        <a:defRPr sz="1100">
                          <a:solidFill>
                            <a:srgbClr val="0A0A0A"/>
                          </a:solidFill>
                          <a:latin typeface="Space Mono"/>
                        </a:defRPr>
                      </a:pPr>
                      <a:r>
                        <a:t>—</a:t>
                      </a:r>
                    </a:p>
                  </a:txBody>
                  <a:tcPr>
                    <a:solidFill>
                      <a:srgbClr val="FFFFFF"/>
                    </a:solidFill>
                  </a:tcPr>
                </a:tc>
                <a:tc>
                  <a:txBody>
                    <a:bodyPr/>
                    <a:lstStyle/>
                    <a:p>
                      <a:pPr>
                        <a:defRPr sz="1100">
                          <a:solidFill>
                            <a:srgbClr val="0A0A0A"/>
                          </a:solidFill>
                          <a:latin typeface="Space Mono"/>
                        </a:defRPr>
                      </a:pPr>
                      <a:r>
                        <a:t>$35K</a:t>
                      </a:r>
                    </a:p>
                  </a:txBody>
                  <a:tcPr>
                    <a:solidFill>
                      <a:srgbClr val="FFFFFF"/>
                    </a:solidFill>
                  </a:tcPr>
                </a:tc>
              </a:tr>
              <a:tr h="365760">
                <a:tc>
                  <a:txBody>
                    <a:bodyPr/>
                    <a:lstStyle/>
                    <a:p>
                      <a:pPr>
                        <a:defRPr sz="1100">
                          <a:solidFill>
                            <a:srgbClr val="0A0A0A"/>
                          </a:solidFill>
                          <a:latin typeface="Space Mono"/>
                        </a:defRPr>
                      </a:pPr>
                      <a:r>
                        <a:t>ROI</a:t>
                      </a:r>
                    </a:p>
                  </a:txBody>
                  <a:tcPr>
                    <a:solidFill>
                      <a:srgbClr val="F4F4F0"/>
                    </a:solidFill>
                  </a:tcPr>
                </a:tc>
                <a:tc>
                  <a:txBody>
                    <a:bodyPr/>
                    <a:lstStyle/>
                    <a:p>
                      <a:pPr>
                        <a:defRPr sz="1100">
                          <a:solidFill>
                            <a:srgbClr val="0A0A0A"/>
                          </a:solidFill>
                          <a:latin typeface="Space Mono"/>
                        </a:defRPr>
                      </a:pPr>
                      <a:r>
                        <a:t>—</a:t>
                      </a:r>
                    </a:p>
                  </a:txBody>
                  <a:tcPr>
                    <a:solidFill>
                      <a:srgbClr val="F4F4F0"/>
                    </a:solidFill>
                  </a:tcPr>
                </a:tc>
                <a:tc>
                  <a:txBody>
                    <a:bodyPr/>
                    <a:lstStyle/>
                    <a:p>
                      <a:pPr>
                        <a:defRPr sz="1100">
                          <a:solidFill>
                            <a:srgbClr val="0A0A0A"/>
                          </a:solidFill>
                          <a:latin typeface="Space Mono"/>
                        </a:defRPr>
                      </a:pPr>
                      <a:r>
                        <a:t>428x</a:t>
                      </a:r>
                    </a:p>
                  </a:txBody>
                  <a:tcPr>
                    <a:solidFill>
                      <a:srgbClr val="F4F4F0"/>
                    </a:solidFill>
                  </a:tcPr>
                </a:tc>
              </a:tr>
            </a:tbl>
          </a:graphicData>
        </a:graphic>
      </p:graphicFrame>
      <p:sp>
        <p:nvSpPr>
          <p:cNvPr id="6" name="Rectangle 5"/>
          <p:cNvSpPr/>
          <p:nvPr/>
        </p:nvSpPr>
        <p:spPr>
          <a:xfrm>
            <a:off x="731520" y="5029200"/>
            <a:ext cx="4754880" cy="6400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100" b="1">
                <a:solidFill>
                  <a:srgbClr val="0A0A0A"/>
                </a:solidFill>
                <a:latin typeface="Space Mono"/>
              </a:defRPr>
            </a:pPr>
            <a:r>
              <a:t>Implementación: 90 días  |  Relación: 3+ años continua</a:t>
            </a:r>
          </a:p>
        </p:txBody>
      </p:sp>
      <p:sp>
        <p:nvSpPr>
          <p:cNvPr id="7" name="Rectangle 6"/>
          <p:cNvSpPr/>
          <p:nvPr/>
        </p:nvSpPr>
        <p:spPr>
          <a:xfrm>
            <a:off x="822960" y="5943600"/>
            <a:ext cx="10515600" cy="82296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5852160"/>
            <a:ext cx="10515600" cy="82296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200" i="1">
                <a:solidFill>
                  <a:srgbClr val="0A0A0A"/>
                </a:solidFill>
                <a:latin typeface="Space Mono"/>
              </a:rPr>
              <a:t>"Llegaron con una pregunta, no con un PowerPoint. Dos semanas después ya sabían más de nuestra operación que gente que llevaba años aquí."</a:t>
            </a:r>
          </a:p>
          <a:p>
            <a:pPr>
              <a:spcBef>
                <a:spcPts val="600"/>
              </a:spcBef>
              <a:defRPr sz="1000" b="1">
                <a:solidFill>
                  <a:srgbClr val="0A0A0A"/>
                </a:solidFill>
                <a:latin typeface="Space Mono"/>
              </a:defRPr>
            </a:pPr>
            <a:r>
              <a:t>— Roberto Méndez, COO — Finkargo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4 — NEW WAY (TECHNICAL)</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NO REEMPLAZAMOS. CONECTAMOS.</a:t>
            </a:r>
          </a:p>
        </p:txBody>
      </p:sp>
      <p:sp>
        <p:nvSpPr>
          <p:cNvPr id="4" name="Rectangle 3"/>
          <p:cNvSpPr/>
          <p:nvPr/>
        </p:nvSpPr>
        <p:spPr>
          <a:xfrm>
            <a:off x="1463040" y="1554480"/>
            <a:ext cx="9418320" cy="20116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371600" y="1463040"/>
            <a:ext cx="9418320" cy="20116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274320" tIns="91440"/>
          <a:lstStyle/>
          <a:p>
            <a:pPr algn="ctr">
              <a:defRPr sz="2000" b="1">
                <a:solidFill>
                  <a:srgbClr val="0A0A0A"/>
                </a:solidFill>
                <a:latin typeface="Oswald"/>
              </a:defRPr>
            </a:pPr>
            <a:r>
              <a:t>CAPA K.AI (AI-OS)</a:t>
            </a:r>
          </a:p>
        </p:txBody>
      </p:sp>
      <p:sp>
        <p:nvSpPr>
          <p:cNvPr id="6" name="Rectangle 5"/>
          <p:cNvSpPr/>
          <p:nvPr/>
        </p:nvSpPr>
        <p:spPr>
          <a:xfrm>
            <a:off x="1828800" y="2103120"/>
            <a:ext cx="2377440" cy="100584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A0A0A"/>
                </a:solidFill>
                <a:latin typeface="Space Mono"/>
              </a:defRPr>
            </a:pPr>
            <a:r>
              <a:t>Workflows</a:t>
            </a:r>
            <a:br/>
            <a:r>
              <a:t>Automáticos</a:t>
            </a:r>
          </a:p>
        </p:txBody>
      </p:sp>
      <p:sp>
        <p:nvSpPr>
          <p:cNvPr id="7" name="Rectangle 6"/>
          <p:cNvSpPr/>
          <p:nvPr/>
        </p:nvSpPr>
        <p:spPr>
          <a:xfrm>
            <a:off x="4754880" y="2103120"/>
            <a:ext cx="2377440" cy="100584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A0A0A"/>
                </a:solidFill>
                <a:latin typeface="Space Mono"/>
              </a:defRPr>
            </a:pPr>
            <a:r>
              <a:t>Agentes</a:t>
            </a:r>
            <a:br/>
            <a:r>
              <a:t>de AI</a:t>
            </a:r>
          </a:p>
        </p:txBody>
      </p:sp>
      <p:sp>
        <p:nvSpPr>
          <p:cNvPr id="8" name="Rectangle 7"/>
          <p:cNvSpPr/>
          <p:nvPr/>
        </p:nvSpPr>
        <p:spPr>
          <a:xfrm>
            <a:off x="7680960" y="2103120"/>
            <a:ext cx="2377440" cy="100584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A0A0A"/>
                </a:solidFill>
                <a:latin typeface="Space Mono"/>
              </a:defRPr>
            </a:pPr>
            <a:r>
              <a:t>Dashboards</a:t>
            </a:r>
            <a:br/>
            <a:r>
              <a:t>en tiempo real</a:t>
            </a:r>
          </a:p>
        </p:txBody>
      </p:sp>
      <p:sp>
        <p:nvSpPr>
          <p:cNvPr id="9" name="Rectangle 8"/>
          <p:cNvSpPr/>
          <p:nvPr/>
        </p:nvSpPr>
        <p:spPr>
          <a:xfrm>
            <a:off x="1920240" y="4206240"/>
            <a:ext cx="2377440" cy="9144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828800" y="4114800"/>
            <a:ext cx="2377440" cy="9144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A0A0A"/>
                </a:solidFill>
                <a:latin typeface="Space Mono"/>
              </a:defRPr>
            </a:pPr>
            <a:r>
              <a:t>SAP B1</a:t>
            </a:r>
            <a:br/>
            <a:r>
              <a:t>(ERP)</a:t>
            </a:r>
          </a:p>
        </p:txBody>
      </p:sp>
      <p:sp>
        <p:nvSpPr>
          <p:cNvPr id="11" name="Rectangle 10"/>
          <p:cNvSpPr/>
          <p:nvPr/>
        </p:nvSpPr>
        <p:spPr>
          <a:xfrm>
            <a:off x="4846320" y="4206240"/>
            <a:ext cx="2377440" cy="9144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0" y="4114800"/>
            <a:ext cx="2377440" cy="9144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A0A0A"/>
                </a:solidFill>
                <a:latin typeface="Space Mono"/>
              </a:defRPr>
            </a:pPr>
            <a:r>
              <a:t>Excel</a:t>
            </a:r>
            <a:br/>
            <a:r>
              <a:t>(datos legacy)</a:t>
            </a:r>
          </a:p>
        </p:txBody>
      </p:sp>
      <p:sp>
        <p:nvSpPr>
          <p:cNvPr id="13" name="Rectangle 12"/>
          <p:cNvSpPr/>
          <p:nvPr/>
        </p:nvSpPr>
        <p:spPr>
          <a:xfrm>
            <a:off x="7772400" y="4206240"/>
            <a:ext cx="2377440" cy="9144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680960" y="4114800"/>
            <a:ext cx="2377440" cy="9144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b="1">
                <a:solidFill>
                  <a:srgbClr val="0A0A0A"/>
                </a:solidFill>
                <a:latin typeface="Space Mono"/>
              </a:defRPr>
            </a:pPr>
            <a:r>
              <a:t>WhatsApp</a:t>
            </a:r>
            <a:br/>
            <a:r>
              <a:t>(comunicación)</a:t>
            </a:r>
          </a:p>
        </p:txBody>
      </p:sp>
      <p:sp>
        <p:nvSpPr>
          <p:cNvPr id="15" name="TextBox 14"/>
          <p:cNvSpPr txBox="1"/>
          <p:nvPr/>
        </p:nvSpPr>
        <p:spPr>
          <a:xfrm>
            <a:off x="731520" y="5303520"/>
            <a:ext cx="10515600" cy="1371600"/>
          </a:xfrm>
          <a:prstGeom prst="rect">
            <a:avLst/>
          </a:prstGeom>
          <a:noFill/>
        </p:spPr>
        <p:txBody>
          <a:bodyPr wrap="square">
            <a:spAutoFit/>
          </a:bodyPr>
          <a:lstStyle/>
          <a:p>
            <a:pPr>
              <a:spcBef>
                <a:spcPts val="800"/>
              </a:spcBef>
              <a:spcAft>
                <a:spcPts val="200"/>
              </a:spcAft>
              <a:defRPr sz="1100">
                <a:solidFill>
                  <a:srgbClr val="0A0A0A"/>
                </a:solidFill>
                <a:latin typeface="Space Mono"/>
              </a:defRPr>
            </a:pPr>
            <a:r>
              <a:t>→ 1. Cotización automatizada — SAP + tarifas + condiciones → cotización en minutos</a:t>
            </a:r>
          </a:p>
          <a:p>
            <a:pPr>
              <a:spcBef>
                <a:spcPts val="800"/>
              </a:spcBef>
              <a:spcAft>
                <a:spcPts val="200"/>
              </a:spcAft>
              <a:defRPr sz="1100">
                <a:solidFill>
                  <a:srgbClr val="0A0A0A"/>
                </a:solidFill>
                <a:latin typeface="Space Mono"/>
              </a:defRPr>
            </a:pPr>
            <a:r>
              <a:t>→ 2. Reconciliación operativa — SAP + Excel + datos de almacén → conciliación automática</a:t>
            </a:r>
          </a:p>
          <a:p>
            <a:pPr>
              <a:spcBef>
                <a:spcPts val="800"/>
              </a:spcBef>
              <a:spcAft>
                <a:spcPts val="200"/>
              </a:spcAft>
              <a:defRPr sz="1100">
                <a:solidFill>
                  <a:srgbClr val="0A0A0A"/>
                </a:solidFill>
                <a:latin typeface="Space Mono"/>
              </a:defRPr>
            </a:pPr>
            <a:r>
              <a:t>→ 3. Dashboard de junta — Datos de todos los sistemas → visibilidad en tiempo real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4 — SOLUTION (PRACTICAL ENTRY)</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DOS RUTAS PARA EMPEZAR</a:t>
            </a:r>
          </a:p>
        </p:txBody>
      </p:sp>
      <p:sp>
        <p:nvSpPr>
          <p:cNvPr id="4" name="Rectangle 3"/>
          <p:cNvSpPr/>
          <p:nvPr/>
        </p:nvSpPr>
        <p:spPr>
          <a:xfrm>
            <a:off x="822960" y="1554480"/>
            <a:ext cx="5029200" cy="43891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5029200" cy="43891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1520" y="1463040"/>
            <a:ext cx="5029200" cy="5486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800" b="1">
                <a:solidFill>
                  <a:srgbClr val="0A0A0A"/>
                </a:solidFill>
                <a:latin typeface="Oswald"/>
              </a:defRPr>
            </a:pPr>
            <a:r>
              <a:t>RUTA A: DIAGNÓSTICO COMPLETO</a:t>
            </a:r>
          </a:p>
        </p:txBody>
      </p:sp>
      <p:sp>
        <p:nvSpPr>
          <p:cNvPr id="7" name="TextBox 6"/>
          <p:cNvSpPr txBox="1"/>
          <p:nvPr/>
        </p:nvSpPr>
        <p:spPr>
          <a:xfrm>
            <a:off x="1005840" y="2194560"/>
            <a:ext cx="4572000" cy="3474720"/>
          </a:xfrm>
          <a:prstGeom prst="rect">
            <a:avLst/>
          </a:prstGeom>
          <a:noFill/>
        </p:spPr>
        <p:txBody>
          <a:bodyPr wrap="square">
            <a:spAutoFit/>
          </a:bodyPr>
          <a:lstStyle/>
          <a:p>
            <a:pPr>
              <a:spcBef>
                <a:spcPts val="200"/>
              </a:spcBef>
              <a:defRPr sz="1100" b="1">
                <a:solidFill>
                  <a:srgbClr val="0A0A0A"/>
                </a:solidFill>
                <a:latin typeface="Space Mono"/>
              </a:defRPr>
            </a:pPr>
            <a:r>
              <a:t>Inversión: $5,000 USD</a:t>
            </a:r>
          </a:p>
          <a:p>
            <a:pPr>
              <a:spcBef>
                <a:spcPts val="200"/>
              </a:spcBef>
              <a:defRPr sz="1100" b="0">
                <a:solidFill>
                  <a:srgbClr val="0A0A0A"/>
                </a:solidFill>
                <a:latin typeface="Space Mono"/>
              </a:defRPr>
            </a:pPr>
          </a:p>
          <a:p>
            <a:pPr>
              <a:spcBef>
                <a:spcPts val="200"/>
              </a:spcBef>
              <a:defRPr sz="1100" b="1">
                <a:solidFill>
                  <a:srgbClr val="0A0A0A"/>
                </a:solidFill>
                <a:latin typeface="Space Mono"/>
              </a:defRPr>
            </a:pPr>
            <a:r>
              <a:t>Incluye:</a:t>
            </a:r>
          </a:p>
          <a:p>
            <a:pPr>
              <a:spcBef>
                <a:spcPts val="200"/>
              </a:spcBef>
              <a:defRPr sz="1100" b="0">
                <a:solidFill>
                  <a:srgbClr val="0A0A0A"/>
                </a:solidFill>
                <a:latin typeface="Space Mono"/>
              </a:defRPr>
            </a:pPr>
            <a:r>
              <a:t>• Arqueología completa (60+ personas entrevistadas)</a:t>
            </a:r>
          </a:p>
          <a:p>
            <a:pPr>
              <a:spcBef>
                <a:spcPts val="200"/>
              </a:spcBef>
              <a:defRPr sz="1100" b="0">
                <a:solidFill>
                  <a:srgbClr val="0A0A0A"/>
                </a:solidFill>
                <a:latin typeface="Space Mono"/>
              </a:defRPr>
            </a:pPr>
            <a:r>
              <a:t>• Mapa de Energía completo</a:t>
            </a:r>
          </a:p>
          <a:p>
            <a:pPr>
              <a:spcBef>
                <a:spcPts val="200"/>
              </a:spcBef>
              <a:defRPr sz="1100" b="0">
                <a:solidFill>
                  <a:srgbClr val="0A0A0A"/>
                </a:solidFill>
                <a:latin typeface="Space Mono"/>
              </a:defRPr>
            </a:pPr>
            <a:r>
              <a:t>• Roadmap de automatizaciones</a:t>
            </a:r>
          </a:p>
          <a:p>
            <a:pPr>
              <a:spcBef>
                <a:spcPts val="200"/>
              </a:spcBef>
              <a:defRPr sz="1100" b="0">
                <a:solidFill>
                  <a:srgbClr val="0A0A0A"/>
                </a:solidFill>
                <a:latin typeface="Space Mono"/>
              </a:defRPr>
            </a:pPr>
            <a:r>
              <a:t>• Propuesta de AI-OS Build</a:t>
            </a:r>
          </a:p>
          <a:p>
            <a:pPr>
              <a:spcBef>
                <a:spcPts val="200"/>
              </a:spcBef>
              <a:defRPr sz="1100" b="0">
                <a:solidFill>
                  <a:srgbClr val="0A0A0A"/>
                </a:solidFill>
                <a:latin typeface="Space Mono"/>
              </a:defRPr>
            </a:pPr>
          </a:p>
          <a:p>
            <a:pPr>
              <a:spcBef>
                <a:spcPts val="200"/>
              </a:spcBef>
              <a:defRPr sz="1100" b="1">
                <a:solidFill>
                  <a:srgbClr val="0A0A0A"/>
                </a:solidFill>
                <a:latin typeface="Space Mono"/>
              </a:defRPr>
            </a:pPr>
            <a:r>
              <a:t>Timeline: 2-3 semanas</a:t>
            </a:r>
          </a:p>
          <a:p>
            <a:pPr>
              <a:spcBef>
                <a:spcPts val="200"/>
              </a:spcBef>
              <a:defRPr sz="1100" b="0">
                <a:solidFill>
                  <a:srgbClr val="0A0A0A"/>
                </a:solidFill>
                <a:latin typeface="Space Mono"/>
              </a:defRPr>
            </a:pPr>
          </a:p>
          <a:p>
            <a:pPr>
              <a:spcBef>
                <a:spcPts val="200"/>
              </a:spcBef>
              <a:defRPr sz="1100" b="1">
                <a:solidFill>
                  <a:srgbClr val="0A0A0A"/>
                </a:solidFill>
                <a:latin typeface="Space Mono"/>
              </a:defRPr>
            </a:pPr>
            <a:r>
              <a:t>Ideal para: "Quiero ver todo antes de decidir"</a:t>
            </a:r>
          </a:p>
        </p:txBody>
      </p:sp>
      <p:sp>
        <p:nvSpPr>
          <p:cNvPr id="8" name="Rectangle 7"/>
          <p:cNvSpPr/>
          <p:nvPr/>
        </p:nvSpPr>
        <p:spPr>
          <a:xfrm>
            <a:off x="6492240" y="1554480"/>
            <a:ext cx="5029200" cy="438912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00800" y="1463040"/>
            <a:ext cx="5029200" cy="438912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00800" y="1463040"/>
            <a:ext cx="5029200" cy="548640"/>
          </a:xfrm>
          <a:prstGeom prst="rect">
            <a:avLst/>
          </a:prstGeom>
          <a:solidFill>
            <a:srgbClr val="FF5C23"/>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137160"/>
          <a:lstStyle/>
          <a:p>
            <a:pPr algn="ctr">
              <a:defRPr sz="1800" b="1">
                <a:solidFill>
                  <a:srgbClr val="FFFFFF"/>
                </a:solidFill>
                <a:latin typeface="Oswald"/>
              </a:defRPr>
            </a:pPr>
            <a:r>
              <a:t>RUTA B: UN PROCESO CRÍTICO</a:t>
            </a:r>
          </a:p>
        </p:txBody>
      </p:sp>
      <p:sp>
        <p:nvSpPr>
          <p:cNvPr id="11" name="TextBox 10"/>
          <p:cNvSpPr txBox="1"/>
          <p:nvPr/>
        </p:nvSpPr>
        <p:spPr>
          <a:xfrm>
            <a:off x="6675120" y="2194560"/>
            <a:ext cx="4572000" cy="3474720"/>
          </a:xfrm>
          <a:prstGeom prst="rect">
            <a:avLst/>
          </a:prstGeom>
          <a:noFill/>
        </p:spPr>
        <p:txBody>
          <a:bodyPr wrap="square">
            <a:spAutoFit/>
          </a:bodyPr>
          <a:lstStyle/>
          <a:p>
            <a:pPr>
              <a:spcBef>
                <a:spcPts val="200"/>
              </a:spcBef>
              <a:defRPr sz="1100" b="1">
                <a:solidFill>
                  <a:srgbClr val="0A0A0A"/>
                </a:solidFill>
                <a:latin typeface="Space Mono"/>
              </a:defRPr>
            </a:pPr>
            <a:r>
              <a:t>Inversión: $3,500-$4,000/mes</a:t>
            </a:r>
          </a:p>
          <a:p>
            <a:pPr>
              <a:spcBef>
                <a:spcPts val="200"/>
              </a:spcBef>
              <a:defRPr sz="1100" b="0">
                <a:solidFill>
                  <a:srgbClr val="0A0A0A"/>
                </a:solidFill>
                <a:latin typeface="Space Mono"/>
              </a:defRPr>
            </a:pPr>
          </a:p>
          <a:p>
            <a:pPr>
              <a:spcBef>
                <a:spcPts val="200"/>
              </a:spcBef>
              <a:defRPr sz="1100" b="1">
                <a:solidFill>
                  <a:srgbClr val="0A0A0A"/>
                </a:solidFill>
                <a:latin typeface="Space Mono"/>
              </a:defRPr>
            </a:pPr>
            <a:r>
              <a:t>Incluye:</a:t>
            </a:r>
          </a:p>
          <a:p>
            <a:pPr>
              <a:spcBef>
                <a:spcPts val="200"/>
              </a:spcBef>
              <a:defRPr sz="1100" b="0">
                <a:solidFill>
                  <a:srgbClr val="0A0A0A"/>
                </a:solidFill>
                <a:latin typeface="Space Mono"/>
              </a:defRPr>
            </a:pPr>
            <a:r>
              <a:t>• Elegimos 1 proceso (ej: cotización)</a:t>
            </a:r>
          </a:p>
          <a:p>
            <a:pPr>
              <a:spcBef>
                <a:spcPts val="200"/>
              </a:spcBef>
              <a:defRPr sz="1100" b="0">
                <a:solidFill>
                  <a:srgbClr val="0A0A0A"/>
                </a:solidFill>
                <a:latin typeface="Space Mono"/>
              </a:defRPr>
            </a:pPr>
            <a:r>
              <a:t>• Lo automatizamos completamente en 60-90 días</a:t>
            </a:r>
          </a:p>
          <a:p>
            <a:pPr>
              <a:spcBef>
                <a:spcPts val="200"/>
              </a:spcBef>
              <a:defRPr sz="1100" b="0">
                <a:solidFill>
                  <a:srgbClr val="0A0A0A"/>
                </a:solidFill>
                <a:latin typeface="Space Mono"/>
              </a:defRPr>
            </a:pPr>
            <a:r>
              <a:t>• ROI medible desde mes 2</a:t>
            </a:r>
          </a:p>
          <a:p>
            <a:pPr>
              <a:spcBef>
                <a:spcPts val="200"/>
              </a:spcBef>
              <a:defRPr sz="1100" b="0">
                <a:solidFill>
                  <a:srgbClr val="0A0A0A"/>
                </a:solidFill>
                <a:latin typeface="Space Mono"/>
              </a:defRPr>
            </a:pPr>
            <a:r>
              <a:t>• Si funciona, expandimos</a:t>
            </a:r>
          </a:p>
          <a:p>
            <a:pPr>
              <a:spcBef>
                <a:spcPts val="200"/>
              </a:spcBef>
              <a:defRPr sz="1100" b="0">
                <a:solidFill>
                  <a:srgbClr val="0A0A0A"/>
                </a:solidFill>
                <a:latin typeface="Space Mono"/>
              </a:defRPr>
            </a:pPr>
          </a:p>
          <a:p>
            <a:pPr>
              <a:spcBef>
                <a:spcPts val="200"/>
              </a:spcBef>
              <a:defRPr sz="1100" b="1">
                <a:solidFill>
                  <a:srgbClr val="0A0A0A"/>
                </a:solidFill>
                <a:latin typeface="Space Mono"/>
              </a:defRPr>
            </a:pPr>
            <a:r>
              <a:t>Timeline: 60-90 días</a:t>
            </a:r>
          </a:p>
          <a:p>
            <a:pPr>
              <a:spcBef>
                <a:spcPts val="200"/>
              </a:spcBef>
              <a:defRPr sz="1100" b="0">
                <a:solidFill>
                  <a:srgbClr val="0A0A0A"/>
                </a:solidFill>
                <a:latin typeface="Space Mono"/>
              </a:defRPr>
            </a:pPr>
          </a:p>
          <a:p>
            <a:pPr>
              <a:spcBef>
                <a:spcPts val="200"/>
              </a:spcBef>
              <a:defRPr sz="1100" b="1">
                <a:solidFill>
                  <a:srgbClr val="0A0A0A"/>
                </a:solidFill>
                <a:latin typeface="Space Mono"/>
              </a:defRPr>
            </a:pPr>
            <a:r>
              <a:t>Ideal para: "Ya sé que necesito esto. Empecemos."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5 — EVIDENCE (ALIGNMENT)</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NUESTRO ÉXITO DEPENDE DE TU ÉXITO</a:t>
            </a:r>
          </a:p>
        </p:txBody>
      </p:sp>
      <p:sp>
        <p:nvSpPr>
          <p:cNvPr id="4" name="Rectangle 3"/>
          <p:cNvSpPr/>
          <p:nvPr/>
        </p:nvSpPr>
        <p:spPr>
          <a:xfrm>
            <a:off x="822960" y="1554480"/>
            <a:ext cx="5029200" cy="22860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1520" y="1463040"/>
            <a:ext cx="5029200" cy="22860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645920"/>
            <a:ext cx="4572000" cy="2011680"/>
          </a:xfrm>
          <a:prstGeom prst="rect">
            <a:avLst/>
          </a:prstGeom>
          <a:noFill/>
        </p:spPr>
        <p:txBody>
          <a:bodyPr wrap="square">
            <a:spAutoFit/>
          </a:bodyPr>
          <a:lstStyle/>
          <a:p>
            <a:pPr>
              <a:defRPr sz="1600" b="1">
                <a:solidFill>
                  <a:srgbClr val="0A0A0A"/>
                </a:solidFill>
                <a:latin typeface="Oswald"/>
              </a:defRPr>
            </a:pPr>
            <a:r>
              <a:t>ESTRUCTURA DE INVERSIÓN</a:t>
            </a:r>
          </a:p>
          <a:p>
            <a:pPr>
              <a:spcBef>
                <a:spcPts val="300"/>
              </a:spcBef>
              <a:defRPr sz="1000">
                <a:solidFill>
                  <a:srgbClr val="0A0A0A"/>
                </a:solidFill>
                <a:latin typeface="Space Mono"/>
              </a:defRPr>
            </a:pPr>
            <a:r>
              <a:t>Componente fijo mensual → Equipo dedicado, infraestructura, soporte</a:t>
            </a:r>
          </a:p>
          <a:p>
            <a:pPr>
              <a:spcBef>
                <a:spcPts val="300"/>
              </a:spcBef>
              <a:defRPr sz="1000">
                <a:solidFill>
                  <a:srgbClr val="0A0A0A"/>
                </a:solidFill>
                <a:latin typeface="Space Mono"/>
              </a:defRPr>
            </a:pPr>
          </a:p>
          <a:p>
            <a:pPr>
              <a:spcBef>
                <a:spcPts val="300"/>
              </a:spcBef>
              <a:defRPr sz="1000">
                <a:solidFill>
                  <a:srgbClr val="0A0A0A"/>
                </a:solidFill>
                <a:latin typeface="Space Mono"/>
              </a:defRPr>
            </a:pPr>
            <a:r>
              <a:t>Componente variable → Atado a resultados medibles (ahorro generado, procesos automatizados, tiempo recuperado)</a:t>
            </a:r>
          </a:p>
          <a:p>
            <a:pPr>
              <a:spcBef>
                <a:spcPts val="300"/>
              </a:spcBef>
              <a:defRPr sz="1000">
                <a:solidFill>
                  <a:srgbClr val="0A0A0A"/>
                </a:solidFill>
                <a:latin typeface="Space Mono"/>
              </a:defRPr>
            </a:pPr>
          </a:p>
          <a:p>
            <a:pPr>
              <a:spcBef>
                <a:spcPts val="300"/>
              </a:spcBef>
              <a:defRPr sz="1000">
                <a:solidFill>
                  <a:srgbClr val="0A0A0A"/>
                </a:solidFill>
                <a:latin typeface="Space Mono"/>
              </a:defRPr>
            </a:pPr>
            <a:r>
              <a:t>Filosofía 80/20:</a:t>
            </a:r>
          </a:p>
          <a:p>
            <a:pPr>
              <a:spcBef>
                <a:spcPts val="300"/>
              </a:spcBef>
              <a:defRPr sz="1000">
                <a:solidFill>
                  <a:srgbClr val="0A0A0A"/>
                </a:solidFill>
                <a:latin typeface="Space Mono"/>
              </a:defRPr>
            </a:pPr>
            <a:r>
              <a:t>80% construir valor a largo plazo</a:t>
            </a:r>
          </a:p>
          <a:p>
            <a:pPr>
              <a:spcBef>
                <a:spcPts val="300"/>
              </a:spcBef>
              <a:defRPr sz="1000">
                <a:solidFill>
                  <a:srgbClr val="0A0A0A"/>
                </a:solidFill>
                <a:latin typeface="Space Mono"/>
              </a:defRPr>
            </a:pPr>
            <a:r>
              <a:t>20% experimentos e iteración rápida</a:t>
            </a:r>
          </a:p>
        </p:txBody>
      </p:sp>
      <p:graphicFrame>
        <p:nvGraphicFramePr>
          <p:cNvPr id="7" name="Table 6"/>
          <p:cNvGraphicFramePr>
            <a:graphicFrameLocks noGrp="1"/>
          </p:cNvGraphicFramePr>
          <p:nvPr/>
        </p:nvGraphicFramePr>
        <p:xfrm>
          <a:off x="6217920" y="1463040"/>
          <a:ext cx="5212080" cy="1828800"/>
        </p:xfrm>
        <a:graphic>
          <a:graphicData uri="http://schemas.openxmlformats.org/drawingml/2006/table">
            <a:tbl>
              <a:tblPr firstRow="1" bandRow="1">
                <a:tableStyleId>{5C22544A-7EE6-4342-B048-85BDC9FD1C3A}</a:tableStyleId>
              </a:tblPr>
              <a:tblGrid>
                <a:gridCol w="2606040"/>
                <a:gridCol w="2606040"/>
              </a:tblGrid>
              <a:tr h="365760">
                <a:tc>
                  <a:txBody>
                    <a:bodyPr/>
                    <a:lstStyle/>
                    <a:p>
                      <a:pPr>
                        <a:defRPr sz="1200" b="1">
                          <a:solidFill>
                            <a:srgbClr val="0A0A0A"/>
                          </a:solidFill>
                          <a:latin typeface="Space Mono"/>
                        </a:defRPr>
                      </a:pPr>
                      <a:r>
                        <a:t>Vendor tradicional</a:t>
                      </a:r>
                    </a:p>
                  </a:txBody>
                  <a:tcPr>
                    <a:solidFill>
                      <a:srgbClr val="FFD826"/>
                    </a:solidFill>
                  </a:tcPr>
                </a:tc>
                <a:tc>
                  <a:txBody>
                    <a:bodyPr/>
                    <a:lstStyle/>
                    <a:p>
                      <a:pPr>
                        <a:defRPr sz="1200" b="1">
                          <a:solidFill>
                            <a:srgbClr val="0A0A0A"/>
                          </a:solidFill>
                          <a:latin typeface="Space Mono"/>
                        </a:defRPr>
                      </a:pPr>
                      <a:r>
                        <a:t>KAI Partners</a:t>
                      </a:r>
                    </a:p>
                  </a:txBody>
                  <a:tcPr>
                    <a:solidFill>
                      <a:srgbClr val="FFD826"/>
                    </a:solidFill>
                  </a:tcPr>
                </a:tc>
              </a:tr>
              <a:tr h="365760">
                <a:tc>
                  <a:txBody>
                    <a:bodyPr/>
                    <a:lstStyle/>
                    <a:p>
                      <a:pPr>
                        <a:defRPr sz="1100">
                          <a:solidFill>
                            <a:srgbClr val="0A0A0A"/>
                          </a:solidFill>
                          <a:latin typeface="Space Mono"/>
                        </a:defRPr>
                      </a:pPr>
                      <a:r>
                        <a:t>Cobra por horas</a:t>
                      </a:r>
                    </a:p>
                  </a:txBody>
                  <a:tcPr>
                    <a:solidFill>
                      <a:srgbClr val="FFFFFF"/>
                    </a:solidFill>
                  </a:tcPr>
                </a:tc>
                <a:tc>
                  <a:txBody>
                    <a:bodyPr/>
                    <a:lstStyle/>
                    <a:p>
                      <a:pPr>
                        <a:defRPr sz="1100">
                          <a:solidFill>
                            <a:srgbClr val="0A0A0A"/>
                          </a:solidFill>
                          <a:latin typeface="Space Mono"/>
                        </a:defRPr>
                      </a:pPr>
                      <a:r>
                        <a:t>Cobra por resultados</a:t>
                      </a:r>
                    </a:p>
                  </a:txBody>
                  <a:tcPr>
                    <a:solidFill>
                      <a:srgbClr val="FFFFFF"/>
                    </a:solidFill>
                  </a:tcPr>
                </a:tc>
              </a:tr>
              <a:tr h="365760">
                <a:tc>
                  <a:txBody>
                    <a:bodyPr/>
                    <a:lstStyle/>
                    <a:p>
                      <a:pPr>
                        <a:defRPr sz="1100">
                          <a:solidFill>
                            <a:srgbClr val="0A0A0A"/>
                          </a:solidFill>
                          <a:latin typeface="Space Mono"/>
                        </a:defRPr>
                      </a:pPr>
                      <a:r>
                        <a:t>Se va a los 3 meses</a:t>
                      </a:r>
                    </a:p>
                  </a:txBody>
                  <a:tcPr>
                    <a:solidFill>
                      <a:srgbClr val="F4F4F0"/>
                    </a:solidFill>
                  </a:tcPr>
                </a:tc>
                <a:tc>
                  <a:txBody>
                    <a:bodyPr/>
                    <a:lstStyle/>
                    <a:p>
                      <a:pPr>
                        <a:defRPr sz="1100">
                          <a:solidFill>
                            <a:srgbClr val="0A0A0A"/>
                          </a:solidFill>
                          <a:latin typeface="Space Mono"/>
                        </a:defRPr>
                      </a:pPr>
                      <a:r>
                        <a:t>Se queda hasta que funciona</a:t>
                      </a:r>
                    </a:p>
                  </a:txBody>
                  <a:tcPr>
                    <a:solidFill>
                      <a:srgbClr val="F4F4F0"/>
                    </a:solidFill>
                  </a:tcPr>
                </a:tc>
              </a:tr>
              <a:tr h="365760">
                <a:tc>
                  <a:txBody>
                    <a:bodyPr/>
                    <a:lstStyle/>
                    <a:p>
                      <a:pPr>
                        <a:defRPr sz="1100">
                          <a:solidFill>
                            <a:srgbClr val="0A0A0A"/>
                          </a:solidFill>
                          <a:latin typeface="Space Mono"/>
                        </a:defRPr>
                      </a:pPr>
                      <a:r>
                        <a:t>Entrega un reporte</a:t>
                      </a:r>
                    </a:p>
                  </a:txBody>
                  <a:tcPr>
                    <a:solidFill>
                      <a:srgbClr val="FFFFFF"/>
                    </a:solidFill>
                  </a:tcPr>
                </a:tc>
                <a:tc>
                  <a:txBody>
                    <a:bodyPr/>
                    <a:lstStyle/>
                    <a:p>
                      <a:pPr>
                        <a:defRPr sz="1100">
                          <a:solidFill>
                            <a:srgbClr val="0A0A0A"/>
                          </a:solidFill>
                          <a:latin typeface="Space Mono"/>
                        </a:defRPr>
                      </a:pPr>
                      <a:r>
                        <a:t>Construye un sistema operativo</a:t>
                      </a:r>
                    </a:p>
                  </a:txBody>
                  <a:tcPr>
                    <a:solidFill>
                      <a:srgbClr val="FFFFFF"/>
                    </a:solidFill>
                  </a:tcPr>
                </a:tc>
              </a:tr>
              <a:tr h="365760">
                <a:tc>
                  <a:txBody>
                    <a:bodyPr/>
                    <a:lstStyle/>
                    <a:p>
                      <a:pPr>
                        <a:defRPr sz="1100">
                          <a:solidFill>
                            <a:srgbClr val="0A0A0A"/>
                          </a:solidFill>
                          <a:latin typeface="Space Mono"/>
                        </a:defRPr>
                      </a:pPr>
                      <a:r>
                        <a:t>ROI "proyectado"</a:t>
                      </a:r>
                    </a:p>
                  </a:txBody>
                  <a:tcPr>
                    <a:solidFill>
                      <a:srgbClr val="F4F4F0"/>
                    </a:solidFill>
                  </a:tcPr>
                </a:tc>
                <a:tc>
                  <a:txBody>
                    <a:bodyPr/>
                    <a:lstStyle/>
                    <a:p>
                      <a:pPr>
                        <a:defRPr sz="1100">
                          <a:solidFill>
                            <a:srgbClr val="0A0A0A"/>
                          </a:solidFill>
                          <a:latin typeface="Space Mono"/>
                        </a:defRPr>
                      </a:pPr>
                      <a:r>
                        <a:t>ROI medido y documentado</a:t>
                      </a:r>
                    </a:p>
                  </a:txBody>
                  <a:tcPr>
                    <a:solidFill>
                      <a:srgbClr val="F4F4F0"/>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4F0"/>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3+4 — PROMISED LAND + HUMAN SIDE</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600" b="1">
                <a:solidFill>
                  <a:srgbClr val="0A0A0A"/>
                </a:solidFill>
                <a:latin typeface="Oswald"/>
              </a:defRPr>
            </a:pPr>
            <a:r>
              <a:t>LA TECNOLOGÍA FUNCIONA CUANDO LA GENTE LA ADOPTA</a:t>
            </a:r>
          </a:p>
        </p:txBody>
      </p:sp>
      <p:sp>
        <p:nvSpPr>
          <p:cNvPr id="4" name="Rectangle 3"/>
          <p:cNvSpPr/>
          <p:nvPr/>
        </p:nvSpPr>
        <p:spPr>
          <a:xfrm>
            <a:off x="731520" y="1463040"/>
            <a:ext cx="548640" cy="5486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0A0A0A"/>
                </a:solidFill>
                <a:latin typeface="Oswald"/>
              </a:defRPr>
            </a:pPr>
            <a:r>
              <a:t>1</a:t>
            </a:r>
          </a:p>
        </p:txBody>
      </p:sp>
      <p:sp>
        <p:nvSpPr>
          <p:cNvPr id="5" name="TextBox 4"/>
          <p:cNvSpPr txBox="1"/>
          <p:nvPr/>
        </p:nvSpPr>
        <p:spPr>
          <a:xfrm>
            <a:off x="1371600" y="1508760"/>
            <a:ext cx="2743200" cy="457200"/>
          </a:xfrm>
          <a:prstGeom prst="rect">
            <a:avLst/>
          </a:prstGeom>
          <a:noFill/>
        </p:spPr>
        <p:txBody>
          <a:bodyPr wrap="square">
            <a:spAutoFit/>
          </a:bodyPr>
          <a:lstStyle/>
          <a:p>
            <a:pPr algn="l">
              <a:defRPr sz="1500" b="1">
                <a:solidFill>
                  <a:srgbClr val="0A0A0A"/>
                </a:solidFill>
                <a:latin typeface="Oswald"/>
              </a:defRPr>
            </a:pPr>
            <a:r>
              <a:t>OPERADORES → SUPERVISORES</a:t>
            </a:r>
          </a:p>
        </p:txBody>
      </p:sp>
      <p:sp>
        <p:nvSpPr>
          <p:cNvPr id="6" name="Rectangle 5"/>
          <p:cNvSpPr/>
          <p:nvPr/>
        </p:nvSpPr>
        <p:spPr>
          <a:xfrm>
            <a:off x="822960" y="2286000"/>
            <a:ext cx="3291840" cy="18288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2194560"/>
            <a:ext cx="3291840" cy="18288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100">
                <a:solidFill>
                  <a:srgbClr val="0A0A0A"/>
                </a:solidFill>
                <a:latin typeface="Space Mono"/>
              </a:defRPr>
            </a:pPr>
            <a:r>
              <a:t>Las personas que hoy hacen tareas manuales se convierten en supervisores del sistema. No se pierde headcount — se transforma.</a:t>
            </a:r>
          </a:p>
        </p:txBody>
      </p:sp>
      <p:sp>
        <p:nvSpPr>
          <p:cNvPr id="8" name="Rectangle 7"/>
          <p:cNvSpPr/>
          <p:nvPr/>
        </p:nvSpPr>
        <p:spPr>
          <a:xfrm>
            <a:off x="4297680" y="1463040"/>
            <a:ext cx="548640" cy="5486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0A0A0A"/>
                </a:solidFill>
                <a:latin typeface="Oswald"/>
              </a:defRPr>
            </a:pPr>
            <a:r>
              <a:t>2</a:t>
            </a:r>
          </a:p>
        </p:txBody>
      </p:sp>
      <p:sp>
        <p:nvSpPr>
          <p:cNvPr id="9" name="TextBox 8"/>
          <p:cNvSpPr txBox="1"/>
          <p:nvPr/>
        </p:nvSpPr>
        <p:spPr>
          <a:xfrm>
            <a:off x="4937760" y="1508760"/>
            <a:ext cx="2743200" cy="457200"/>
          </a:xfrm>
          <a:prstGeom prst="rect">
            <a:avLst/>
          </a:prstGeom>
          <a:noFill/>
        </p:spPr>
        <p:txBody>
          <a:bodyPr wrap="square">
            <a:spAutoFit/>
          </a:bodyPr>
          <a:lstStyle/>
          <a:p>
            <a:pPr algn="l">
              <a:defRPr sz="1500" b="1">
                <a:solidFill>
                  <a:srgbClr val="0A0A0A"/>
                </a:solidFill>
                <a:latin typeface="Oswald"/>
              </a:defRPr>
            </a:pPr>
            <a:r>
              <a:t>HUMANO EN EL LOOP (HITL)</a:t>
            </a:r>
          </a:p>
        </p:txBody>
      </p:sp>
      <p:sp>
        <p:nvSpPr>
          <p:cNvPr id="10" name="Rectangle 9"/>
          <p:cNvSpPr/>
          <p:nvPr/>
        </p:nvSpPr>
        <p:spPr>
          <a:xfrm>
            <a:off x="4389120" y="2286000"/>
            <a:ext cx="3291840" cy="18288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97680" y="2194560"/>
            <a:ext cx="3291840" cy="18288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100">
                <a:solidFill>
                  <a:srgbClr val="0A0A0A"/>
                </a:solidFill>
                <a:latin typeface="Space Mono"/>
              </a:defRPr>
            </a:pPr>
            <a:r>
              <a:t>El AI-OS no toma decisiones solo. Las personas aprueban, supervisan, y ajustan. La tecnología amplifica, no reemplaza.</a:t>
            </a:r>
          </a:p>
        </p:txBody>
      </p:sp>
      <p:sp>
        <p:nvSpPr>
          <p:cNvPr id="12" name="Rectangle 11"/>
          <p:cNvSpPr/>
          <p:nvPr/>
        </p:nvSpPr>
        <p:spPr>
          <a:xfrm>
            <a:off x="7863840" y="1463040"/>
            <a:ext cx="548640" cy="5486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2400" b="1">
                <a:solidFill>
                  <a:srgbClr val="0A0A0A"/>
                </a:solidFill>
                <a:latin typeface="Oswald"/>
              </a:defRPr>
            </a:pPr>
            <a:r>
              <a:t>3</a:t>
            </a:r>
          </a:p>
        </p:txBody>
      </p:sp>
      <p:sp>
        <p:nvSpPr>
          <p:cNvPr id="13" name="TextBox 12"/>
          <p:cNvSpPr txBox="1"/>
          <p:nvPr/>
        </p:nvSpPr>
        <p:spPr>
          <a:xfrm>
            <a:off x="8503920" y="1508760"/>
            <a:ext cx="2743200" cy="457200"/>
          </a:xfrm>
          <a:prstGeom prst="rect">
            <a:avLst/>
          </a:prstGeom>
          <a:noFill/>
        </p:spPr>
        <p:txBody>
          <a:bodyPr wrap="square">
            <a:spAutoFit/>
          </a:bodyPr>
          <a:lstStyle/>
          <a:p>
            <a:pPr algn="l">
              <a:defRPr sz="1500" b="1">
                <a:solidFill>
                  <a:srgbClr val="0A0A0A"/>
                </a:solidFill>
                <a:latin typeface="Oswald"/>
              </a:defRPr>
            </a:pPr>
            <a:r>
              <a:t>LLEVADOS DE LA MANO</a:t>
            </a:r>
          </a:p>
        </p:txBody>
      </p:sp>
      <p:sp>
        <p:nvSpPr>
          <p:cNvPr id="14" name="Rectangle 13"/>
          <p:cNvSpPr/>
          <p:nvPr/>
        </p:nvSpPr>
        <p:spPr>
          <a:xfrm>
            <a:off x="7955280" y="2286000"/>
            <a:ext cx="3291840" cy="18288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863840" y="2194560"/>
            <a:ext cx="3291840" cy="1828800"/>
          </a:xfrm>
          <a:prstGeom prst="rect">
            <a:avLst/>
          </a:prstGeom>
          <a:solidFill>
            <a:srgbClr val="FFFFFF"/>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100">
                <a:solidFill>
                  <a:srgbClr val="0A0A0A"/>
                </a:solidFill>
                <a:latin typeface="Space Mono"/>
              </a:defRPr>
            </a:pPr>
            <a:r>
              <a:t>Entrenamiento práctico (no workshops de 2 horas). El equipo de KAI Partners trabaja junto al equipo de G3 hasta que operan solos.</a:t>
            </a:r>
          </a:p>
        </p:txBody>
      </p:sp>
      <p:sp>
        <p:nvSpPr>
          <p:cNvPr id="16" name="Rectangle 15"/>
          <p:cNvSpPr/>
          <p:nvPr/>
        </p:nvSpPr>
        <p:spPr>
          <a:xfrm>
            <a:off x="822960" y="4846320"/>
            <a:ext cx="10515600" cy="9144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4754880"/>
            <a:ext cx="10515600" cy="91440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37160"/>
          <a:lstStyle/>
          <a:p>
            <a:pPr algn="ctr"/>
            <a:r>
              <a:rPr sz="1200" i="1">
                <a:solidFill>
                  <a:srgbClr val="0A0A0A"/>
                </a:solidFill>
                <a:latin typeface="Space Mono"/>
              </a:rPr>
              <a:t>"La junta quiere avanzar, pero que nos lleven de la mano"</a:t>
            </a:r>
          </a:p>
          <a:p>
            <a:pPr>
              <a:spcBef>
                <a:spcPts val="600"/>
              </a:spcBef>
              <a:defRPr sz="1000" b="1">
                <a:solidFill>
                  <a:srgbClr val="0A0A0A"/>
                </a:solidFill>
                <a:latin typeface="Space Mono"/>
              </a:defRPr>
            </a:pPr>
            <a:r>
              <a:t>— Raúl Moreno, CEO — G3 Logística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Rectangle 1"/>
          <p:cNvSpPr/>
          <p:nvPr/>
        </p:nvSpPr>
        <p:spPr>
          <a:xfrm>
            <a:off x="731520" y="137160"/>
            <a:ext cx="2926080" cy="32004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0A0A0A"/>
                </a:solidFill>
                <a:latin typeface="Space Mono"/>
              </a:defRPr>
            </a:pPr>
            <a:r>
              <a:t>MOVE 5 — EVIDENCE (TEAM)</a:t>
            </a:r>
          </a:p>
        </p:txBody>
      </p:sp>
      <p:sp>
        <p:nvSpPr>
          <p:cNvPr id="3" name="TextBox 2"/>
          <p:cNvSpPr txBox="1"/>
          <p:nvPr/>
        </p:nvSpPr>
        <p:spPr>
          <a:xfrm>
            <a:off x="731520" y="365760"/>
            <a:ext cx="10515600" cy="731520"/>
          </a:xfrm>
          <a:prstGeom prst="rect">
            <a:avLst/>
          </a:prstGeom>
          <a:noFill/>
        </p:spPr>
        <p:txBody>
          <a:bodyPr wrap="square">
            <a:spAutoFit/>
          </a:bodyPr>
          <a:lstStyle/>
          <a:p>
            <a:pPr algn="l">
              <a:defRPr sz="3400" b="1">
                <a:solidFill>
                  <a:srgbClr val="FFD826"/>
                </a:solidFill>
                <a:latin typeface="Oswald"/>
              </a:defRPr>
            </a:pPr>
            <a:r>
              <a:t>QUIÉN CONSTRUYE TU AI-OS</a:t>
            </a:r>
          </a:p>
        </p:txBody>
      </p:sp>
      <p:sp>
        <p:nvSpPr>
          <p:cNvPr id="4" name="Rectangle 3"/>
          <p:cNvSpPr/>
          <p:nvPr/>
        </p:nvSpPr>
        <p:spPr>
          <a:xfrm>
            <a:off x="731520" y="1280160"/>
            <a:ext cx="3291840" cy="50292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A0A0A"/>
                </a:solidFill>
                <a:latin typeface="Oswald"/>
              </a:defRPr>
            </a:pPr>
            <a:r>
              <a:t>DANIEL RESTREPO</a:t>
            </a:r>
          </a:p>
        </p:txBody>
      </p:sp>
      <p:sp>
        <p:nvSpPr>
          <p:cNvPr id="5" name="TextBox 4"/>
          <p:cNvSpPr txBox="1"/>
          <p:nvPr/>
        </p:nvSpPr>
        <p:spPr>
          <a:xfrm>
            <a:off x="731520" y="1828800"/>
            <a:ext cx="3291840" cy="320040"/>
          </a:xfrm>
          <a:prstGeom prst="rect">
            <a:avLst/>
          </a:prstGeom>
          <a:noFill/>
        </p:spPr>
        <p:txBody>
          <a:bodyPr wrap="square">
            <a:spAutoFit/>
          </a:bodyPr>
          <a:lstStyle/>
          <a:p>
            <a:pPr algn="l">
              <a:defRPr sz="1200" b="1">
                <a:solidFill>
                  <a:srgbClr val="FF5C23"/>
                </a:solidFill>
                <a:latin typeface="Space Mono"/>
              </a:defRPr>
            </a:pPr>
            <a:r>
              <a:t>Cofundador</a:t>
            </a:r>
          </a:p>
        </p:txBody>
      </p:sp>
      <p:sp>
        <p:nvSpPr>
          <p:cNvPr id="6" name="Rectangle 5"/>
          <p:cNvSpPr/>
          <p:nvPr/>
        </p:nvSpPr>
        <p:spPr>
          <a:xfrm>
            <a:off x="731520" y="2194560"/>
            <a:ext cx="3291840" cy="2286000"/>
          </a:xfrm>
          <a:prstGeom prst="rect">
            <a:avLst/>
          </a:prstGeom>
          <a:solidFill>
            <a:srgbClr val="1A1A1A"/>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a:solidFill>
                  <a:srgbClr val="F4F4F0"/>
                </a:solidFill>
                <a:latin typeface="Space Mono"/>
              </a:defRPr>
            </a:pPr>
            <a:r>
              <a:t>10 años en oil &amp; gas → 4 años construyendo infraestructura de datos en fintech</a:t>
            </a:r>
            <a:br/>
            <a:r>
              <a:t>Diseñó los sistemas que procesan $650M/año para Finkargo</a:t>
            </a:r>
            <a:br/>
            <a:r>
              <a:t>"La tecnología sin adopción es basura cara."</a:t>
            </a:r>
          </a:p>
        </p:txBody>
      </p:sp>
      <p:sp>
        <p:nvSpPr>
          <p:cNvPr id="7" name="Rectangle 6"/>
          <p:cNvSpPr/>
          <p:nvPr/>
        </p:nvSpPr>
        <p:spPr>
          <a:xfrm>
            <a:off x="4297680" y="1280160"/>
            <a:ext cx="3291840" cy="50292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A0A0A"/>
                </a:solidFill>
                <a:latin typeface="Oswald"/>
              </a:defRPr>
            </a:pPr>
            <a:r>
              <a:t>DANIEL CARDONA</a:t>
            </a:r>
          </a:p>
        </p:txBody>
      </p:sp>
      <p:sp>
        <p:nvSpPr>
          <p:cNvPr id="8" name="TextBox 7"/>
          <p:cNvSpPr txBox="1"/>
          <p:nvPr/>
        </p:nvSpPr>
        <p:spPr>
          <a:xfrm>
            <a:off x="4297680" y="1828800"/>
            <a:ext cx="3291840" cy="320040"/>
          </a:xfrm>
          <a:prstGeom prst="rect">
            <a:avLst/>
          </a:prstGeom>
          <a:noFill/>
        </p:spPr>
        <p:txBody>
          <a:bodyPr wrap="square">
            <a:spAutoFit/>
          </a:bodyPr>
          <a:lstStyle/>
          <a:p>
            <a:pPr algn="l">
              <a:defRPr sz="1200" b="1">
                <a:solidFill>
                  <a:srgbClr val="FF5C23"/>
                </a:solidFill>
                <a:latin typeface="Space Mono"/>
              </a:defRPr>
            </a:pPr>
            <a:r>
              <a:t>Cofundador</a:t>
            </a:r>
          </a:p>
        </p:txBody>
      </p:sp>
      <p:sp>
        <p:nvSpPr>
          <p:cNvPr id="9" name="Rectangle 8"/>
          <p:cNvSpPr/>
          <p:nvPr/>
        </p:nvSpPr>
        <p:spPr>
          <a:xfrm>
            <a:off x="4297680" y="2194560"/>
            <a:ext cx="3291840" cy="2286000"/>
          </a:xfrm>
          <a:prstGeom prst="rect">
            <a:avLst/>
          </a:prstGeom>
          <a:solidFill>
            <a:srgbClr val="1A1A1A"/>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a:solidFill>
                  <a:srgbClr val="F4F4F0"/>
                </a:solidFill>
                <a:latin typeface="Space Mono"/>
              </a:defRPr>
            </a:pPr>
            <a:r>
              <a:t>15 años en marketing, growth, y GTM para B2B LATAM</a:t>
            </a:r>
            <a:br/>
            <a:r>
              <a:t>Lidera la arqueología organizacional — mapea cómo opera tu empresa de verdad</a:t>
            </a:r>
            <a:br/>
            <a:r>
              <a:t>"Llegamos con una pregunta, no con un PowerPoint."</a:t>
            </a:r>
          </a:p>
        </p:txBody>
      </p:sp>
      <p:sp>
        <p:nvSpPr>
          <p:cNvPr id="10" name="Rectangle 9"/>
          <p:cNvSpPr/>
          <p:nvPr/>
        </p:nvSpPr>
        <p:spPr>
          <a:xfrm>
            <a:off x="7863840" y="1280160"/>
            <a:ext cx="3291840" cy="50292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600" b="1">
                <a:solidFill>
                  <a:srgbClr val="0A0A0A"/>
                </a:solidFill>
                <a:latin typeface="Oswald"/>
              </a:defRPr>
            </a:pPr>
            <a:r>
              <a:t>THOMAS SCHUCK</a:t>
            </a:r>
          </a:p>
        </p:txBody>
      </p:sp>
      <p:sp>
        <p:nvSpPr>
          <p:cNvPr id="11" name="TextBox 10"/>
          <p:cNvSpPr txBox="1"/>
          <p:nvPr/>
        </p:nvSpPr>
        <p:spPr>
          <a:xfrm>
            <a:off x="7863840" y="1828800"/>
            <a:ext cx="3291840" cy="320040"/>
          </a:xfrm>
          <a:prstGeom prst="rect">
            <a:avLst/>
          </a:prstGeom>
          <a:noFill/>
        </p:spPr>
        <p:txBody>
          <a:bodyPr wrap="square">
            <a:spAutoFit/>
          </a:bodyPr>
          <a:lstStyle/>
          <a:p>
            <a:pPr algn="l">
              <a:defRPr sz="1200" b="1">
                <a:solidFill>
                  <a:srgbClr val="FF5C23"/>
                </a:solidFill>
                <a:latin typeface="Space Mono"/>
              </a:defRPr>
            </a:pPr>
            <a:r>
              <a:t>Advisor</a:t>
            </a:r>
          </a:p>
        </p:txBody>
      </p:sp>
      <p:sp>
        <p:nvSpPr>
          <p:cNvPr id="12" name="Rectangle 11"/>
          <p:cNvSpPr/>
          <p:nvPr/>
        </p:nvSpPr>
        <p:spPr>
          <a:xfrm>
            <a:off x="7863840" y="2194560"/>
            <a:ext cx="3291840" cy="2286000"/>
          </a:xfrm>
          <a:prstGeom prst="rect">
            <a:avLst/>
          </a:prstGeom>
          <a:solidFill>
            <a:srgbClr val="1A1A1A"/>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ctr">
              <a:defRPr sz="1000">
                <a:solidFill>
                  <a:srgbClr val="F4F4F0"/>
                </a:solidFill>
                <a:latin typeface="Space Mono"/>
              </a:defRPr>
            </a:pPr>
            <a:r>
              <a:t>25 años en logística y supply chain</a:t>
            </a:r>
            <a:br/>
            <a:r>
              <a:t>Harvard OPM (Owner/President Management)</a:t>
            </a:r>
            <a:br/>
            <a:r>
              <a:t>Asegura que lo que construimos funciona en la operación real</a:t>
            </a:r>
          </a:p>
        </p:txBody>
      </p:sp>
      <p:sp>
        <p:nvSpPr>
          <p:cNvPr id="13" name="Rectangle 12"/>
          <p:cNvSpPr/>
          <p:nvPr/>
        </p:nvSpPr>
        <p:spPr>
          <a:xfrm>
            <a:off x="731520" y="5029200"/>
            <a:ext cx="10515600" cy="50292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lIns="182880"/>
          <a:lstStyle/>
          <a:p>
            <a:pPr algn="ctr">
              <a:defRPr sz="1300" b="1">
                <a:solidFill>
                  <a:srgbClr val="0A0A0A"/>
                </a:solidFill>
                <a:latin typeface="Space Mono"/>
              </a:defRPr>
            </a:pPr>
            <a:r>
              <a:t>12+ clientes  |  3 países (Colombia, México, Bolivia)  |  $650M en transacciones procesadas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0A0A"/>
        </a:solidFill>
        <a:effectLst/>
      </p:bgPr>
    </p:bg>
    <p:spTree>
      <p:nvGrpSpPr>
        <p:cNvPr id="1" name=""/>
        <p:cNvGrpSpPr/>
        <p:nvPr/>
      </p:nvGrpSpPr>
      <p:grpSpPr/>
      <p:sp>
        <p:nvSpPr>
          <p:cNvPr id="2" name="TextBox 1"/>
          <p:cNvSpPr txBox="1"/>
          <p:nvPr/>
        </p:nvSpPr>
        <p:spPr>
          <a:xfrm>
            <a:off x="731520" y="731520"/>
            <a:ext cx="10515600" cy="731520"/>
          </a:xfrm>
          <a:prstGeom prst="rect">
            <a:avLst/>
          </a:prstGeom>
          <a:noFill/>
        </p:spPr>
        <p:txBody>
          <a:bodyPr wrap="square">
            <a:spAutoFit/>
          </a:bodyPr>
          <a:lstStyle/>
          <a:p>
            <a:pPr algn="l">
              <a:defRPr sz="4000" b="1">
                <a:solidFill>
                  <a:srgbClr val="FFD826"/>
                </a:solidFill>
                <a:latin typeface="Oswald"/>
              </a:defRPr>
            </a:pPr>
            <a:r>
              <a:t>PRÓXIMOS PASOS</a:t>
            </a:r>
          </a:p>
        </p:txBody>
      </p:sp>
      <p:sp>
        <p:nvSpPr>
          <p:cNvPr id="3" name="Rectangle 2"/>
          <p:cNvSpPr/>
          <p:nvPr/>
        </p:nvSpPr>
        <p:spPr>
          <a:xfrm>
            <a:off x="1463040" y="1920240"/>
            <a:ext cx="4389120" cy="18288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371600" y="1828800"/>
            <a:ext cx="4389120" cy="182880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800" b="1">
                <a:solidFill>
                  <a:srgbClr val="0A0A0A"/>
                </a:solidFill>
                <a:latin typeface="Oswald"/>
              </a:defRPr>
            </a:pPr>
            <a:r>
              <a:t>OPCIÓN A: Diagnóstico Completo</a:t>
            </a:r>
          </a:p>
          <a:p>
            <a:pPr>
              <a:spcBef>
                <a:spcPts val="800"/>
              </a:spcBef>
              <a:defRPr sz="1200">
                <a:solidFill>
                  <a:srgbClr val="0A0A0A"/>
                </a:solidFill>
                <a:latin typeface="Space Mono"/>
              </a:defRPr>
            </a:pPr>
            <a:r>
              <a:t>$5,000 → Mapa de Energía en 2-3 semanas</a:t>
            </a:r>
          </a:p>
          <a:p>
            <a:pPr>
              <a:spcBef>
                <a:spcPts val="800"/>
              </a:spcBef>
              <a:defRPr sz="1200">
                <a:solidFill>
                  <a:srgbClr val="0A0A0A"/>
                </a:solidFill>
                <a:latin typeface="Space Mono"/>
              </a:defRPr>
            </a:pPr>
            <a:r>
              <a:t>Ideal si quieren ver todo antes de decidir</a:t>
            </a:r>
          </a:p>
        </p:txBody>
      </p:sp>
      <p:sp>
        <p:nvSpPr>
          <p:cNvPr id="5" name="Rectangle 4"/>
          <p:cNvSpPr/>
          <p:nvPr/>
        </p:nvSpPr>
        <p:spPr>
          <a:xfrm>
            <a:off x="6492240" y="1920240"/>
            <a:ext cx="4389120" cy="182880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0" y="1828800"/>
            <a:ext cx="4389120" cy="1828800"/>
          </a:xfrm>
          <a:prstGeom prst="rect">
            <a:avLst/>
          </a:prstGeom>
          <a:solidFill>
            <a:srgbClr val="FF5C23"/>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lIns="182880" tIns="137160"/>
          <a:lstStyle/>
          <a:p>
            <a:pPr algn="ctr">
              <a:defRPr sz="1800" b="1">
                <a:solidFill>
                  <a:srgbClr val="FFFFFF"/>
                </a:solidFill>
                <a:latin typeface="Oswald"/>
              </a:defRPr>
            </a:pPr>
            <a:r>
              <a:t>OPCIÓN B: Un Proceso Crítico</a:t>
            </a:r>
          </a:p>
          <a:p>
            <a:pPr>
              <a:spcBef>
                <a:spcPts val="800"/>
              </a:spcBef>
              <a:defRPr sz="1200">
                <a:solidFill>
                  <a:srgbClr val="FFFFFF"/>
                </a:solidFill>
                <a:latin typeface="Space Mono"/>
              </a:defRPr>
            </a:pPr>
            <a:r>
              <a:t>$3,500-$4,000/mes → Cotización en 60-90 días</a:t>
            </a:r>
          </a:p>
          <a:p>
            <a:pPr>
              <a:spcBef>
                <a:spcPts val="800"/>
              </a:spcBef>
              <a:defRPr sz="1200">
                <a:solidFill>
                  <a:srgbClr val="FFFFFF"/>
                </a:solidFill>
                <a:latin typeface="Space Mono"/>
              </a:defRPr>
            </a:pPr>
            <a:r>
              <a:t>Ideal si quieren resultados inmediatos</a:t>
            </a:r>
          </a:p>
        </p:txBody>
      </p:sp>
      <p:sp>
        <p:nvSpPr>
          <p:cNvPr id="7" name="Rectangle 6"/>
          <p:cNvSpPr/>
          <p:nvPr/>
        </p:nvSpPr>
        <p:spPr>
          <a:xfrm>
            <a:off x="2377440" y="4206240"/>
            <a:ext cx="7589520" cy="640080"/>
          </a:xfrm>
          <a:prstGeom prst="rect">
            <a:avLst/>
          </a:prstGeom>
          <a:solidFill>
            <a:srgbClr val="0A0A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286000" y="4114800"/>
            <a:ext cx="7589520" cy="640080"/>
          </a:xfrm>
          <a:prstGeom prst="rect">
            <a:avLst/>
          </a:prstGeom>
          <a:solidFill>
            <a:srgbClr val="FFD826"/>
          </a:solidFill>
          <a:ln w="57150">
            <a:solidFill>
              <a:srgbClr val="0A0A0A"/>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0A0A0A"/>
                </a:solidFill>
                <a:latin typeface="Space Mono"/>
              </a:defRPr>
            </a:pPr>
            <a:r>
              <a:t>Aprobemos un presupuesto exploratorio. Agendemos la siguiente sesión.</a:t>
            </a:r>
          </a:p>
        </p:txBody>
      </p:sp>
      <p:sp>
        <p:nvSpPr>
          <p:cNvPr id="9" name="TextBox 8"/>
          <p:cNvSpPr txBox="1"/>
          <p:nvPr/>
        </p:nvSpPr>
        <p:spPr>
          <a:xfrm>
            <a:off x="2286000" y="5120640"/>
            <a:ext cx="7589520" cy="365760"/>
          </a:xfrm>
          <a:prstGeom prst="rect">
            <a:avLst/>
          </a:prstGeom>
          <a:noFill/>
        </p:spPr>
        <p:txBody>
          <a:bodyPr wrap="square">
            <a:spAutoFit/>
          </a:bodyPr>
          <a:lstStyle/>
          <a:p>
            <a:pPr algn="ctr">
              <a:defRPr sz="1300" b="0">
                <a:solidFill>
                  <a:srgbClr val="F4F4F0"/>
                </a:solidFill>
                <a:latin typeface="Space Mono"/>
              </a:defRPr>
            </a:pPr>
            <a:r>
              <a:t>Daniel Cardona  |  kai@kaipartners.com  |  kaipartners.com/agenda</a:t>
            </a:r>
          </a:p>
        </p:txBody>
      </p:sp>
      <p:sp>
        <p:nvSpPr>
          <p:cNvPr id="10" name="TextBox 9"/>
          <p:cNvSpPr txBox="1"/>
          <p:nvPr/>
        </p:nvSpPr>
        <p:spPr>
          <a:xfrm>
            <a:off x="2286000" y="5760720"/>
            <a:ext cx="7589520" cy="457200"/>
          </a:xfrm>
          <a:prstGeom prst="rect">
            <a:avLst/>
          </a:prstGeom>
          <a:noFill/>
        </p:spPr>
        <p:txBody>
          <a:bodyPr wrap="square">
            <a:spAutoFit/>
          </a:bodyPr>
          <a:lstStyle/>
          <a:p>
            <a:pPr algn="ctr">
              <a:defRPr sz="1600" b="1">
                <a:solidFill>
                  <a:srgbClr val="FFD826"/>
                </a:solidFill>
                <a:latin typeface="Space Mono"/>
              </a:defRPr>
            </a:pPr>
            <a:r>
              <a:t>AI-OS Built with you. Proven with your data.</a:t>
            </a:r>
          </a:p>
        </p:txBody>
      </p:sp>
      <p:sp>
        <p:nvSpPr>
          <p:cNvPr id="11" name="TextBox 10"/>
          <p:cNvSpPr txBox="1"/>
          <p:nvPr/>
        </p:nvSpPr>
        <p:spPr>
          <a:xfrm>
            <a:off x="5029200" y="6217920"/>
            <a:ext cx="2743200" cy="457200"/>
          </a:xfrm>
          <a:prstGeom prst="rect">
            <a:avLst/>
          </a:prstGeom>
          <a:noFill/>
        </p:spPr>
        <p:txBody>
          <a:bodyPr wrap="none">
            <a:spAutoFit/>
          </a:bodyPr>
          <a:lstStyle/>
          <a:p>
            <a:r>
              <a:rPr sz="1400" b="1">
                <a:solidFill>
                  <a:srgbClr val="FF5C23"/>
                </a:solidFill>
                <a:latin typeface="Space Mono"/>
              </a:rPr>
              <a:t>&gt;_</a:t>
            </a:r>
            <a:r>
              <a:rPr sz="1400" b="1">
                <a:solidFill>
                  <a:srgbClr val="0A0A0A"/>
                </a:solidFill>
                <a:latin typeface="Space Mono"/>
              </a:rPr>
              <a:t>KAI PARTNERS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